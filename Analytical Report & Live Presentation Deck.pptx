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 Bold" charset="1" panose="020B0803030501040103"/>
      <p:regular r:id="rId18"/>
    </p:embeddedFont>
    <p:embeddedFont>
      <p:font typeface="Canva Sans Italics" charset="1" panose="020B0503030501040103"/>
      <p:regular r:id="rId19"/>
    </p:embeddedFont>
    <p:embeddedFont>
      <p:font typeface="Canva Sans" charset="1" panose="020B0503030501040103"/>
      <p:regular r:id="rId20"/>
    </p:embeddedFont>
    <p:embeddedFont>
      <p:font typeface="Canva Sans Bold Italics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7265866" cy="1256777"/>
            <a:chOff x="0" y="0"/>
            <a:chExt cx="1913644" cy="331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3644" cy="331003"/>
            </a:xfrm>
            <a:custGeom>
              <a:avLst/>
              <a:gdLst/>
              <a:ahLst/>
              <a:cxnLst/>
              <a:rect r="r" b="b" t="t" l="l"/>
              <a:pathLst>
                <a:path h="331003" w="1913644">
                  <a:moveTo>
                    <a:pt x="0" y="0"/>
                  </a:moveTo>
                  <a:lnTo>
                    <a:pt x="1913644" y="0"/>
                  </a:lnTo>
                  <a:lnTo>
                    <a:pt x="1913644" y="331003"/>
                  </a:lnTo>
                  <a:lnTo>
                    <a:pt x="0" y="331003"/>
                  </a:lnTo>
                  <a:close/>
                </a:path>
              </a:pathLst>
            </a:custGeom>
            <a:solidFill>
              <a:srgbClr val="000B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913644" cy="435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5999">
                  <a:solidFill>
                    <a:srgbClr val="A6A6A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Can We Predict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285477"/>
            <a:ext cx="5378884" cy="1458302"/>
            <a:chOff x="0" y="0"/>
            <a:chExt cx="1416661" cy="384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6661" cy="384080"/>
            </a:xfrm>
            <a:custGeom>
              <a:avLst/>
              <a:gdLst/>
              <a:ahLst/>
              <a:cxnLst/>
              <a:rect r="r" b="b" t="t" l="l"/>
              <a:pathLst>
                <a:path h="384080" w="1416661">
                  <a:moveTo>
                    <a:pt x="0" y="0"/>
                  </a:moveTo>
                  <a:lnTo>
                    <a:pt x="1416661" y="0"/>
                  </a:lnTo>
                  <a:lnTo>
                    <a:pt x="1416661" y="384080"/>
                  </a:lnTo>
                  <a:lnTo>
                    <a:pt x="0" y="384080"/>
                  </a:lnTo>
                  <a:close/>
                </a:path>
              </a:pathLst>
            </a:custGeom>
            <a:solidFill>
              <a:srgbClr val="000B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1416661" cy="517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97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Who Leaves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743779"/>
            <a:ext cx="6352811" cy="1256779"/>
            <a:chOff x="0" y="0"/>
            <a:chExt cx="1673168" cy="3310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73168" cy="331003"/>
            </a:xfrm>
            <a:custGeom>
              <a:avLst/>
              <a:gdLst/>
              <a:ahLst/>
              <a:cxnLst/>
              <a:rect r="r" b="b" t="t" l="l"/>
              <a:pathLst>
                <a:path h="331003" w="1673168">
                  <a:moveTo>
                    <a:pt x="0" y="0"/>
                  </a:moveTo>
                  <a:lnTo>
                    <a:pt x="1673168" y="0"/>
                  </a:lnTo>
                  <a:lnTo>
                    <a:pt x="1673168" y="331003"/>
                  </a:lnTo>
                  <a:lnTo>
                    <a:pt x="0" y="331003"/>
                  </a:lnTo>
                  <a:close/>
                </a:path>
              </a:pathLst>
            </a:custGeom>
            <a:solidFill>
              <a:srgbClr val="000B3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673168" cy="435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5999">
                  <a:solidFill>
                    <a:srgbClr val="0CC0D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Before They Go?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588279"/>
            <a:ext cx="10742559" cy="741297"/>
            <a:chOff x="0" y="0"/>
            <a:chExt cx="2829316" cy="1952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9316" cy="195239"/>
            </a:xfrm>
            <a:custGeom>
              <a:avLst/>
              <a:gdLst/>
              <a:ahLst/>
              <a:cxnLst/>
              <a:rect r="r" b="b" t="t" l="l"/>
              <a:pathLst>
                <a:path h="195239" w="2829316">
                  <a:moveTo>
                    <a:pt x="0" y="0"/>
                  </a:moveTo>
                  <a:lnTo>
                    <a:pt x="2829316" y="0"/>
                  </a:lnTo>
                  <a:lnTo>
                    <a:pt x="2829316" y="195239"/>
                  </a:lnTo>
                  <a:lnTo>
                    <a:pt x="0" y="195239"/>
                  </a:lnTo>
                  <a:close/>
                </a:path>
              </a:pathLst>
            </a:custGeom>
            <a:solidFill>
              <a:srgbClr val="000B3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29316" cy="233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079"/>
                </a:lnSpc>
                <a:spcBef>
                  <a:spcPct val="0"/>
                </a:spcBef>
              </a:pPr>
              <a:r>
                <a:rPr lang="en-US" sz="2199" i="true">
                  <a:solidFill>
                    <a:srgbClr val="D9D9D9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ConnectTel Communications Ltd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329576"/>
            <a:ext cx="8949947" cy="752735"/>
            <a:chOff x="0" y="0"/>
            <a:chExt cx="2357188" cy="1982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57188" cy="198251"/>
            </a:xfrm>
            <a:custGeom>
              <a:avLst/>
              <a:gdLst/>
              <a:ahLst/>
              <a:cxnLst/>
              <a:rect r="r" b="b" t="t" l="l"/>
              <a:pathLst>
                <a:path h="198251" w="2357188">
                  <a:moveTo>
                    <a:pt x="0" y="0"/>
                  </a:moveTo>
                  <a:lnTo>
                    <a:pt x="2357188" y="0"/>
                  </a:lnTo>
                  <a:lnTo>
                    <a:pt x="2357188" y="198251"/>
                  </a:lnTo>
                  <a:lnTo>
                    <a:pt x="0" y="198251"/>
                  </a:lnTo>
                  <a:close/>
                </a:path>
              </a:pathLst>
            </a:custGeom>
            <a:solidFill>
              <a:srgbClr val="000B3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357188" cy="236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079"/>
                </a:lnSpc>
              </a:pPr>
              <a:r>
                <a:rPr lang="en-US" sz="2199" i="true">
                  <a:solidFill>
                    <a:srgbClr val="D9D9D9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Dataset: 25,000 customers | 36 Features | 5 Models Evaluated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07940" y="1028700"/>
            <a:ext cx="6251360" cy="8205788"/>
            <a:chOff x="0" y="0"/>
            <a:chExt cx="1646449" cy="21611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6449" cy="2161195"/>
            </a:xfrm>
            <a:custGeom>
              <a:avLst/>
              <a:gdLst/>
              <a:ahLst/>
              <a:cxnLst/>
              <a:rect r="r" b="b" t="t" l="l"/>
              <a:pathLst>
                <a:path h="2161195" w="1646449">
                  <a:moveTo>
                    <a:pt x="30961" y="0"/>
                  </a:moveTo>
                  <a:lnTo>
                    <a:pt x="1615488" y="0"/>
                  </a:lnTo>
                  <a:cubicBezTo>
                    <a:pt x="1623699" y="0"/>
                    <a:pt x="1631574" y="3262"/>
                    <a:pt x="1637380" y="9068"/>
                  </a:cubicBezTo>
                  <a:cubicBezTo>
                    <a:pt x="1643187" y="14875"/>
                    <a:pt x="1646449" y="22750"/>
                    <a:pt x="1646449" y="30961"/>
                  </a:cubicBezTo>
                  <a:lnTo>
                    <a:pt x="1646449" y="2130234"/>
                  </a:lnTo>
                  <a:cubicBezTo>
                    <a:pt x="1646449" y="2147333"/>
                    <a:pt x="1632587" y="2161195"/>
                    <a:pt x="1615488" y="2161195"/>
                  </a:cubicBezTo>
                  <a:lnTo>
                    <a:pt x="30961" y="2161195"/>
                  </a:lnTo>
                  <a:cubicBezTo>
                    <a:pt x="22750" y="2161195"/>
                    <a:pt x="14875" y="2157933"/>
                    <a:pt x="9068" y="2152127"/>
                  </a:cubicBezTo>
                  <a:cubicBezTo>
                    <a:pt x="3262" y="2146321"/>
                    <a:pt x="0" y="2138445"/>
                    <a:pt x="0" y="2130234"/>
                  </a:cubicBezTo>
                  <a:lnTo>
                    <a:pt x="0" y="30961"/>
                  </a:lnTo>
                  <a:cubicBezTo>
                    <a:pt x="0" y="22750"/>
                    <a:pt x="3262" y="14875"/>
                    <a:pt x="9068" y="9068"/>
                  </a:cubicBezTo>
                  <a:cubicBezTo>
                    <a:pt x="14875" y="3262"/>
                    <a:pt x="22750" y="0"/>
                    <a:pt x="30961" y="0"/>
                  </a:cubicBezTo>
                  <a:close/>
                </a:path>
              </a:pathLst>
            </a:custGeom>
            <a:solidFill>
              <a:srgbClr val="4910BC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33350"/>
              <a:ext cx="1646449" cy="2294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359"/>
                </a:lnSpc>
              </a:pPr>
              <a:r>
                <a:rPr lang="en-US" sz="7399" b="true">
                  <a:solidFill>
                    <a:srgbClr val="0CC0D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41.43% 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D9D9D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Churn Rate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4199"/>
                </a:lnSpc>
              </a:pPr>
              <a:r>
                <a:rPr lang="en-US" sz="2999" b="true">
                  <a:solidFill>
                    <a:srgbClr val="FF914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5.59 Cr / year</a:t>
              </a:r>
            </a:p>
            <a:p>
              <a:pPr algn="ctr">
                <a:lnSpc>
                  <a:spcPts val="2240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D9D9D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Revenue at risk</a:t>
              </a:r>
            </a:p>
            <a:p>
              <a:pPr algn="ctr">
                <a:lnSpc>
                  <a:spcPts val="2240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D9D9D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10,357 customers churned</a:t>
              </a:r>
            </a:p>
            <a:p>
              <a:pPr algn="ctr">
                <a:lnSpc>
                  <a:spcPts val="2240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D9D9D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Avg ARPU: ₹450/month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1929992" y="4976745"/>
            <a:ext cx="4407255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21167" y="0"/>
                  </a:moveTo>
                  <a:lnTo>
                    <a:pt x="4795426" y="0"/>
                  </a:lnTo>
                  <a:cubicBezTo>
                    <a:pt x="4801040" y="0"/>
                    <a:pt x="4806423" y="2230"/>
                    <a:pt x="4810393" y="6200"/>
                  </a:cubicBezTo>
                  <a:cubicBezTo>
                    <a:pt x="4814362" y="10169"/>
                    <a:pt x="4816592" y="15553"/>
                    <a:pt x="4816592" y="21167"/>
                  </a:cubicBezTo>
                  <a:lnTo>
                    <a:pt x="4816592" y="249767"/>
                  </a:lnTo>
                  <a:cubicBezTo>
                    <a:pt x="4816592" y="261457"/>
                    <a:pt x="4807116" y="270933"/>
                    <a:pt x="4795426" y="270933"/>
                  </a:cubicBezTo>
                  <a:lnTo>
                    <a:pt x="21167" y="270933"/>
                  </a:lnTo>
                  <a:cubicBezTo>
                    <a:pt x="9477" y="270933"/>
                    <a:pt x="0" y="261457"/>
                    <a:pt x="0" y="249767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11676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63588" indent="-431794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Problem We Are Solving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348246"/>
            <a:ext cx="16230600" cy="1909273"/>
            <a:chOff x="0" y="0"/>
            <a:chExt cx="4274726" cy="502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502854"/>
            </a:xfrm>
            <a:custGeom>
              <a:avLst/>
              <a:gdLst/>
              <a:ahLst/>
              <a:cxnLst/>
              <a:rect r="r" b="b" t="t" l="l"/>
              <a:pathLst>
                <a:path h="502854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479004"/>
                  </a:lnTo>
                  <a:cubicBezTo>
                    <a:pt x="4274726" y="485329"/>
                    <a:pt x="4272213" y="491396"/>
                    <a:pt x="4267741" y="495868"/>
                  </a:cubicBezTo>
                  <a:cubicBezTo>
                    <a:pt x="4263268" y="500341"/>
                    <a:pt x="4257201" y="502854"/>
                    <a:pt x="4250876" y="502854"/>
                  </a:cubicBezTo>
                  <a:lnTo>
                    <a:pt x="23850" y="502854"/>
                  </a:lnTo>
                  <a:cubicBezTo>
                    <a:pt x="17524" y="502854"/>
                    <a:pt x="11458" y="500341"/>
                    <a:pt x="6985" y="495868"/>
                  </a:cubicBezTo>
                  <a:cubicBezTo>
                    <a:pt x="2513" y="491396"/>
                    <a:pt x="0" y="485329"/>
                    <a:pt x="0" y="479004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274726" cy="550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 i="true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“ConnectTel</a:t>
              </a:r>
              <a:r>
                <a:rPr lang="en-US" sz="2299" i="true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 Communications Ltd”</a:t>
              </a: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- a pan-India telecom operator - is experiencing a significant and sustained increase in customer churn. This customer attrition is negatively affecting the company’s revenue, market position, and future expansion.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965672"/>
            <a:ext cx="5033952" cy="843452"/>
            <a:chOff x="0" y="0"/>
            <a:chExt cx="1325815" cy="2221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5815" cy="222144"/>
            </a:xfrm>
            <a:custGeom>
              <a:avLst/>
              <a:gdLst/>
              <a:ahLst/>
              <a:cxnLst/>
              <a:rect r="r" b="b" t="t" l="l"/>
              <a:pathLst>
                <a:path h="222144" w="1325815">
                  <a:moveTo>
                    <a:pt x="46138" y="0"/>
                  </a:moveTo>
                  <a:lnTo>
                    <a:pt x="1279676" y="0"/>
                  </a:lnTo>
                  <a:cubicBezTo>
                    <a:pt x="1305158" y="0"/>
                    <a:pt x="1325815" y="20657"/>
                    <a:pt x="1325815" y="46138"/>
                  </a:cubicBezTo>
                  <a:lnTo>
                    <a:pt x="1325815" y="176005"/>
                  </a:lnTo>
                  <a:cubicBezTo>
                    <a:pt x="1325815" y="201487"/>
                    <a:pt x="1305158" y="222144"/>
                    <a:pt x="1279676" y="222144"/>
                  </a:cubicBezTo>
                  <a:lnTo>
                    <a:pt x="46138" y="222144"/>
                  </a:lnTo>
                  <a:cubicBezTo>
                    <a:pt x="20657" y="222144"/>
                    <a:pt x="0" y="201487"/>
                    <a:pt x="0" y="176005"/>
                  </a:cubicBezTo>
                  <a:lnTo>
                    <a:pt x="0" y="46138"/>
                  </a:lnTo>
                  <a:cubicBezTo>
                    <a:pt x="0" y="20657"/>
                    <a:pt x="20657" y="0"/>
                    <a:pt x="46138" y="0"/>
                  </a:cubicBezTo>
                  <a:close/>
                </a:path>
              </a:pathLst>
            </a:custGeom>
            <a:solidFill>
              <a:srgbClr val="0097B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25815" cy="279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81175" y="3965672"/>
            <a:ext cx="5033952" cy="843452"/>
            <a:chOff x="0" y="0"/>
            <a:chExt cx="1325815" cy="2221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5815" cy="222144"/>
            </a:xfrm>
            <a:custGeom>
              <a:avLst/>
              <a:gdLst/>
              <a:ahLst/>
              <a:cxnLst/>
              <a:rect r="r" b="b" t="t" l="l"/>
              <a:pathLst>
                <a:path h="222144" w="1325815">
                  <a:moveTo>
                    <a:pt x="46138" y="0"/>
                  </a:moveTo>
                  <a:lnTo>
                    <a:pt x="1279676" y="0"/>
                  </a:lnTo>
                  <a:cubicBezTo>
                    <a:pt x="1305158" y="0"/>
                    <a:pt x="1325815" y="20657"/>
                    <a:pt x="1325815" y="46138"/>
                  </a:cubicBezTo>
                  <a:lnTo>
                    <a:pt x="1325815" y="176005"/>
                  </a:lnTo>
                  <a:cubicBezTo>
                    <a:pt x="1325815" y="201487"/>
                    <a:pt x="1305158" y="222144"/>
                    <a:pt x="1279676" y="222144"/>
                  </a:cubicBezTo>
                  <a:lnTo>
                    <a:pt x="46138" y="222144"/>
                  </a:lnTo>
                  <a:cubicBezTo>
                    <a:pt x="20657" y="222144"/>
                    <a:pt x="0" y="201487"/>
                    <a:pt x="0" y="176005"/>
                  </a:cubicBezTo>
                  <a:lnTo>
                    <a:pt x="0" y="46138"/>
                  </a:lnTo>
                  <a:cubicBezTo>
                    <a:pt x="0" y="20657"/>
                    <a:pt x="20657" y="0"/>
                    <a:pt x="46138" y="0"/>
                  </a:cubicBezTo>
                  <a:close/>
                </a:path>
              </a:pathLst>
            </a:custGeom>
            <a:solidFill>
              <a:srgbClr val="0097B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25815" cy="279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225348" y="3965672"/>
            <a:ext cx="5033952" cy="843452"/>
            <a:chOff x="0" y="0"/>
            <a:chExt cx="1325815" cy="2221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25815" cy="222144"/>
            </a:xfrm>
            <a:custGeom>
              <a:avLst/>
              <a:gdLst/>
              <a:ahLst/>
              <a:cxnLst/>
              <a:rect r="r" b="b" t="t" l="l"/>
              <a:pathLst>
                <a:path h="222144" w="1325815">
                  <a:moveTo>
                    <a:pt x="46138" y="0"/>
                  </a:moveTo>
                  <a:lnTo>
                    <a:pt x="1279676" y="0"/>
                  </a:lnTo>
                  <a:cubicBezTo>
                    <a:pt x="1305158" y="0"/>
                    <a:pt x="1325815" y="20657"/>
                    <a:pt x="1325815" y="46138"/>
                  </a:cubicBezTo>
                  <a:lnTo>
                    <a:pt x="1325815" y="176005"/>
                  </a:lnTo>
                  <a:cubicBezTo>
                    <a:pt x="1325815" y="201487"/>
                    <a:pt x="1305158" y="222144"/>
                    <a:pt x="1279676" y="222144"/>
                  </a:cubicBezTo>
                  <a:lnTo>
                    <a:pt x="46138" y="222144"/>
                  </a:lnTo>
                  <a:cubicBezTo>
                    <a:pt x="20657" y="222144"/>
                    <a:pt x="0" y="201487"/>
                    <a:pt x="0" y="176005"/>
                  </a:cubicBezTo>
                  <a:lnTo>
                    <a:pt x="0" y="46138"/>
                  </a:lnTo>
                  <a:cubicBezTo>
                    <a:pt x="0" y="20657"/>
                    <a:pt x="20657" y="0"/>
                    <a:pt x="46138" y="0"/>
                  </a:cubicBezTo>
                  <a:close/>
                </a:path>
              </a:pathLst>
            </a:custGeom>
            <a:solidFill>
              <a:srgbClr val="0097B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325815" cy="279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b="true" sz="34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4809124"/>
            <a:ext cx="5033952" cy="4449176"/>
            <a:chOff x="0" y="0"/>
            <a:chExt cx="1325815" cy="11717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5815" cy="1171800"/>
            </a:xfrm>
            <a:custGeom>
              <a:avLst/>
              <a:gdLst/>
              <a:ahLst/>
              <a:cxnLst/>
              <a:rect r="r" b="b" t="t" l="l"/>
              <a:pathLst>
                <a:path h="1171800" w="1325815">
                  <a:moveTo>
                    <a:pt x="46138" y="0"/>
                  </a:moveTo>
                  <a:lnTo>
                    <a:pt x="1279676" y="0"/>
                  </a:lnTo>
                  <a:cubicBezTo>
                    <a:pt x="1305158" y="0"/>
                    <a:pt x="1325815" y="20657"/>
                    <a:pt x="1325815" y="46138"/>
                  </a:cubicBezTo>
                  <a:lnTo>
                    <a:pt x="1325815" y="1125661"/>
                  </a:lnTo>
                  <a:cubicBezTo>
                    <a:pt x="1325815" y="1151143"/>
                    <a:pt x="1305158" y="1171800"/>
                    <a:pt x="1279676" y="1171800"/>
                  </a:cubicBezTo>
                  <a:lnTo>
                    <a:pt x="46138" y="1171800"/>
                  </a:lnTo>
                  <a:cubicBezTo>
                    <a:pt x="20657" y="1171800"/>
                    <a:pt x="0" y="1151143"/>
                    <a:pt x="0" y="1125661"/>
                  </a:cubicBezTo>
                  <a:lnTo>
                    <a:pt x="0" y="46138"/>
                  </a:lnTo>
                  <a:cubicBezTo>
                    <a:pt x="0" y="20657"/>
                    <a:pt x="20657" y="0"/>
                    <a:pt x="46138" y="0"/>
                  </a:cubicBezTo>
                  <a:close/>
                </a:path>
              </a:pathLst>
            </a:custGeom>
            <a:solidFill>
              <a:srgbClr val="C2F6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25815" cy="121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Reactive Only</a:t>
              </a: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Customers are engaged ONLY after they initiate port-out or disconnection requests. No proactive system exists.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81175" y="4809124"/>
            <a:ext cx="5033952" cy="4449176"/>
            <a:chOff x="0" y="0"/>
            <a:chExt cx="1325815" cy="11717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5815" cy="1171800"/>
            </a:xfrm>
            <a:custGeom>
              <a:avLst/>
              <a:gdLst/>
              <a:ahLst/>
              <a:cxnLst/>
              <a:rect r="r" b="b" t="t" l="l"/>
              <a:pathLst>
                <a:path h="1171800" w="1325815">
                  <a:moveTo>
                    <a:pt x="46138" y="0"/>
                  </a:moveTo>
                  <a:lnTo>
                    <a:pt x="1279676" y="0"/>
                  </a:lnTo>
                  <a:cubicBezTo>
                    <a:pt x="1305158" y="0"/>
                    <a:pt x="1325815" y="20657"/>
                    <a:pt x="1325815" y="46138"/>
                  </a:cubicBezTo>
                  <a:lnTo>
                    <a:pt x="1325815" y="1125661"/>
                  </a:lnTo>
                  <a:cubicBezTo>
                    <a:pt x="1325815" y="1151143"/>
                    <a:pt x="1305158" y="1171800"/>
                    <a:pt x="1279676" y="1171800"/>
                  </a:cubicBezTo>
                  <a:lnTo>
                    <a:pt x="46138" y="1171800"/>
                  </a:lnTo>
                  <a:cubicBezTo>
                    <a:pt x="20657" y="1171800"/>
                    <a:pt x="0" y="1151143"/>
                    <a:pt x="0" y="1125661"/>
                  </a:cubicBezTo>
                  <a:lnTo>
                    <a:pt x="0" y="46138"/>
                  </a:lnTo>
                  <a:cubicBezTo>
                    <a:pt x="0" y="20657"/>
                    <a:pt x="20657" y="0"/>
                    <a:pt x="46138" y="0"/>
                  </a:cubicBezTo>
                  <a:close/>
                </a:path>
              </a:pathLst>
            </a:custGeom>
            <a:solidFill>
              <a:srgbClr val="C2F6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25815" cy="121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Silent Churn</a:t>
              </a: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High-value customers leave without explicit complaints or warning signals, making detection extremely difficult.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25348" y="4809124"/>
            <a:ext cx="5033952" cy="4449176"/>
            <a:chOff x="0" y="0"/>
            <a:chExt cx="1325815" cy="11717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5815" cy="1171800"/>
            </a:xfrm>
            <a:custGeom>
              <a:avLst/>
              <a:gdLst/>
              <a:ahLst/>
              <a:cxnLst/>
              <a:rect r="r" b="b" t="t" l="l"/>
              <a:pathLst>
                <a:path h="1171800" w="1325815">
                  <a:moveTo>
                    <a:pt x="46138" y="0"/>
                  </a:moveTo>
                  <a:lnTo>
                    <a:pt x="1279676" y="0"/>
                  </a:lnTo>
                  <a:cubicBezTo>
                    <a:pt x="1305158" y="0"/>
                    <a:pt x="1325815" y="20657"/>
                    <a:pt x="1325815" y="46138"/>
                  </a:cubicBezTo>
                  <a:lnTo>
                    <a:pt x="1325815" y="1125661"/>
                  </a:lnTo>
                  <a:cubicBezTo>
                    <a:pt x="1325815" y="1151143"/>
                    <a:pt x="1305158" y="1171800"/>
                    <a:pt x="1279676" y="1171800"/>
                  </a:cubicBezTo>
                  <a:lnTo>
                    <a:pt x="46138" y="1171800"/>
                  </a:lnTo>
                  <a:cubicBezTo>
                    <a:pt x="20657" y="1171800"/>
                    <a:pt x="0" y="1151143"/>
                    <a:pt x="0" y="1125661"/>
                  </a:cubicBezTo>
                  <a:lnTo>
                    <a:pt x="0" y="46138"/>
                  </a:lnTo>
                  <a:cubicBezTo>
                    <a:pt x="0" y="20657"/>
                    <a:pt x="20657" y="0"/>
                    <a:pt x="46138" y="0"/>
                  </a:cubicBezTo>
                  <a:close/>
                </a:path>
              </a:pathLst>
            </a:custGeom>
            <a:solidFill>
              <a:srgbClr val="C2F6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325815" cy="1219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Data Blind Spot</a:t>
              </a: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4199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 systematic use of the 36 available behavioral, billing and service features to predict churn before it happens.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21167" y="0"/>
                  </a:moveTo>
                  <a:lnTo>
                    <a:pt x="4795426" y="0"/>
                  </a:lnTo>
                  <a:cubicBezTo>
                    <a:pt x="4801040" y="0"/>
                    <a:pt x="4806423" y="2230"/>
                    <a:pt x="4810393" y="6200"/>
                  </a:cubicBezTo>
                  <a:cubicBezTo>
                    <a:pt x="4814362" y="10169"/>
                    <a:pt x="4816592" y="15553"/>
                    <a:pt x="4816592" y="21167"/>
                  </a:cubicBezTo>
                  <a:lnTo>
                    <a:pt x="4816592" y="249767"/>
                  </a:lnTo>
                  <a:cubicBezTo>
                    <a:pt x="4816592" y="261457"/>
                    <a:pt x="4807116" y="270933"/>
                    <a:pt x="4795426" y="270933"/>
                  </a:cubicBezTo>
                  <a:lnTo>
                    <a:pt x="21167" y="270933"/>
                  </a:lnTo>
                  <a:cubicBezTo>
                    <a:pt x="9477" y="270933"/>
                    <a:pt x="0" y="261457"/>
                    <a:pt x="0" y="249767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11676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63588" indent="-431794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Dataset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834209"/>
            <a:ext cx="3674149" cy="2720431"/>
            <a:chOff x="0" y="0"/>
            <a:chExt cx="967677" cy="7164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7677" cy="716492"/>
            </a:xfrm>
            <a:custGeom>
              <a:avLst/>
              <a:gdLst/>
              <a:ahLst/>
              <a:cxnLst/>
              <a:rect r="r" b="b" t="t" l="l"/>
              <a:pathLst>
                <a:path h="716492" w="967677">
                  <a:moveTo>
                    <a:pt x="63214" y="0"/>
                  </a:moveTo>
                  <a:lnTo>
                    <a:pt x="904463" y="0"/>
                  </a:lnTo>
                  <a:cubicBezTo>
                    <a:pt x="939375" y="0"/>
                    <a:pt x="967677" y="28302"/>
                    <a:pt x="967677" y="63214"/>
                  </a:cubicBezTo>
                  <a:lnTo>
                    <a:pt x="967677" y="653278"/>
                  </a:lnTo>
                  <a:cubicBezTo>
                    <a:pt x="967677" y="688190"/>
                    <a:pt x="939375" y="716492"/>
                    <a:pt x="904463" y="716492"/>
                  </a:cubicBezTo>
                  <a:lnTo>
                    <a:pt x="63214" y="716492"/>
                  </a:lnTo>
                  <a:cubicBezTo>
                    <a:pt x="28302" y="716492"/>
                    <a:pt x="0" y="688190"/>
                    <a:pt x="0" y="653278"/>
                  </a:cubicBezTo>
                  <a:lnTo>
                    <a:pt x="0" y="63214"/>
                  </a:lnTo>
                  <a:cubicBezTo>
                    <a:pt x="0" y="28302"/>
                    <a:pt x="28302" y="0"/>
                    <a:pt x="63214" y="0"/>
                  </a:cubicBezTo>
                  <a:close/>
                </a:path>
              </a:pathLst>
            </a:custGeom>
            <a:solidFill>
              <a:srgbClr val="00687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67677" cy="773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55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25000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Customer Records</a:t>
              </a:r>
            </a:p>
            <a:p>
              <a:pPr algn="ctr" marL="0" indent="0" lvl="1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60024" y="1834209"/>
            <a:ext cx="3927744" cy="2720431"/>
            <a:chOff x="0" y="0"/>
            <a:chExt cx="1034468" cy="7164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4468" cy="716492"/>
            </a:xfrm>
            <a:custGeom>
              <a:avLst/>
              <a:gdLst/>
              <a:ahLst/>
              <a:cxnLst/>
              <a:rect r="r" b="b" t="t" l="l"/>
              <a:pathLst>
                <a:path h="716492" w="1034468">
                  <a:moveTo>
                    <a:pt x="59133" y="0"/>
                  </a:moveTo>
                  <a:lnTo>
                    <a:pt x="975335" y="0"/>
                  </a:lnTo>
                  <a:cubicBezTo>
                    <a:pt x="1007993" y="0"/>
                    <a:pt x="1034468" y="26475"/>
                    <a:pt x="1034468" y="59133"/>
                  </a:cubicBezTo>
                  <a:lnTo>
                    <a:pt x="1034468" y="657360"/>
                  </a:lnTo>
                  <a:cubicBezTo>
                    <a:pt x="1034468" y="690018"/>
                    <a:pt x="1007993" y="716492"/>
                    <a:pt x="975335" y="716492"/>
                  </a:cubicBezTo>
                  <a:lnTo>
                    <a:pt x="59133" y="716492"/>
                  </a:lnTo>
                  <a:cubicBezTo>
                    <a:pt x="26475" y="716492"/>
                    <a:pt x="0" y="690018"/>
                    <a:pt x="0" y="657360"/>
                  </a:cubicBezTo>
                  <a:lnTo>
                    <a:pt x="0" y="59133"/>
                  </a:lnTo>
                  <a:cubicBezTo>
                    <a:pt x="0" y="26475"/>
                    <a:pt x="26475" y="0"/>
                    <a:pt x="59133" y="0"/>
                  </a:cubicBezTo>
                  <a:close/>
                </a:path>
              </a:pathLst>
            </a:custGeom>
            <a:solidFill>
              <a:srgbClr val="00687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34468" cy="773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55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36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Columns</a:t>
              </a:r>
            </a:p>
            <a:p>
              <a:pPr algn="ctr" marL="0" indent="0" lvl="1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49719" y="1834209"/>
            <a:ext cx="3856729" cy="2663281"/>
            <a:chOff x="0" y="0"/>
            <a:chExt cx="1015764" cy="701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5764" cy="701440"/>
            </a:xfrm>
            <a:custGeom>
              <a:avLst/>
              <a:gdLst/>
              <a:ahLst/>
              <a:cxnLst/>
              <a:rect r="r" b="b" t="t" l="l"/>
              <a:pathLst>
                <a:path h="701440" w="1015764">
                  <a:moveTo>
                    <a:pt x="60221" y="0"/>
                  </a:moveTo>
                  <a:lnTo>
                    <a:pt x="955543" y="0"/>
                  </a:lnTo>
                  <a:cubicBezTo>
                    <a:pt x="988802" y="0"/>
                    <a:pt x="1015764" y="26962"/>
                    <a:pt x="1015764" y="60221"/>
                  </a:cubicBezTo>
                  <a:lnTo>
                    <a:pt x="1015764" y="641219"/>
                  </a:lnTo>
                  <a:cubicBezTo>
                    <a:pt x="1015764" y="674478"/>
                    <a:pt x="988802" y="701440"/>
                    <a:pt x="955543" y="701440"/>
                  </a:cubicBezTo>
                  <a:lnTo>
                    <a:pt x="60221" y="701440"/>
                  </a:lnTo>
                  <a:cubicBezTo>
                    <a:pt x="26962" y="701440"/>
                    <a:pt x="0" y="674478"/>
                    <a:pt x="0" y="641219"/>
                  </a:cubicBezTo>
                  <a:lnTo>
                    <a:pt x="0" y="60221"/>
                  </a:lnTo>
                  <a:cubicBezTo>
                    <a:pt x="0" y="26962"/>
                    <a:pt x="26962" y="0"/>
                    <a:pt x="60221" y="0"/>
                  </a:cubicBezTo>
                  <a:close/>
                </a:path>
              </a:pathLst>
            </a:custGeom>
            <a:solidFill>
              <a:srgbClr val="00687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15764" cy="758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639"/>
                </a:lnSpc>
              </a:pPr>
            </a:p>
            <a:p>
              <a:pPr algn="ctr">
                <a:lnSpc>
                  <a:spcPts val="55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Missing Values</a:t>
              </a:r>
            </a:p>
            <a:p>
              <a:pPr algn="ctr" marL="0" indent="0" lvl="1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66551" y="1834209"/>
            <a:ext cx="3750718" cy="2720431"/>
            <a:chOff x="0" y="0"/>
            <a:chExt cx="987843" cy="7164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7843" cy="716492"/>
            </a:xfrm>
            <a:custGeom>
              <a:avLst/>
              <a:gdLst/>
              <a:ahLst/>
              <a:cxnLst/>
              <a:rect r="r" b="b" t="t" l="l"/>
              <a:pathLst>
                <a:path h="716492" w="987843">
                  <a:moveTo>
                    <a:pt x="61923" y="0"/>
                  </a:moveTo>
                  <a:lnTo>
                    <a:pt x="925920" y="0"/>
                  </a:lnTo>
                  <a:cubicBezTo>
                    <a:pt x="960119" y="0"/>
                    <a:pt x="987843" y="27724"/>
                    <a:pt x="987843" y="61923"/>
                  </a:cubicBezTo>
                  <a:lnTo>
                    <a:pt x="987843" y="654569"/>
                  </a:lnTo>
                  <a:cubicBezTo>
                    <a:pt x="987843" y="688768"/>
                    <a:pt x="960119" y="716492"/>
                    <a:pt x="925920" y="716492"/>
                  </a:cubicBezTo>
                  <a:lnTo>
                    <a:pt x="61923" y="716492"/>
                  </a:lnTo>
                  <a:cubicBezTo>
                    <a:pt x="27724" y="716492"/>
                    <a:pt x="0" y="688768"/>
                    <a:pt x="0" y="654569"/>
                  </a:cubicBezTo>
                  <a:lnTo>
                    <a:pt x="0" y="61923"/>
                  </a:lnTo>
                  <a:cubicBezTo>
                    <a:pt x="0" y="27724"/>
                    <a:pt x="27724" y="0"/>
                    <a:pt x="61923" y="0"/>
                  </a:cubicBezTo>
                  <a:close/>
                </a:path>
              </a:pathLst>
            </a:custGeom>
            <a:solidFill>
              <a:srgbClr val="00687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87843" cy="773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639"/>
                </a:lnSpc>
              </a:pPr>
            </a:p>
            <a:p>
              <a:pPr algn="ctr">
                <a:lnSpc>
                  <a:spcPts val="55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41.43%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Churn rate</a:t>
              </a:r>
            </a:p>
            <a:p>
              <a:pPr algn="ctr" marL="0" indent="0" lvl="1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4888015"/>
            <a:ext cx="3674149" cy="4370285"/>
            <a:chOff x="0" y="0"/>
            <a:chExt cx="967677" cy="11510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7677" cy="1151022"/>
            </a:xfrm>
            <a:custGeom>
              <a:avLst/>
              <a:gdLst/>
              <a:ahLst/>
              <a:cxnLst/>
              <a:rect r="r" b="b" t="t" l="l"/>
              <a:pathLst>
                <a:path h="1151022" w="967677">
                  <a:moveTo>
                    <a:pt x="63214" y="0"/>
                  </a:moveTo>
                  <a:lnTo>
                    <a:pt x="904463" y="0"/>
                  </a:lnTo>
                  <a:cubicBezTo>
                    <a:pt x="939375" y="0"/>
                    <a:pt x="967677" y="28302"/>
                    <a:pt x="967677" y="63214"/>
                  </a:cubicBezTo>
                  <a:lnTo>
                    <a:pt x="967677" y="1087808"/>
                  </a:lnTo>
                  <a:cubicBezTo>
                    <a:pt x="967677" y="1122720"/>
                    <a:pt x="939375" y="1151022"/>
                    <a:pt x="904463" y="1151022"/>
                  </a:cubicBezTo>
                  <a:lnTo>
                    <a:pt x="63214" y="1151022"/>
                  </a:lnTo>
                  <a:cubicBezTo>
                    <a:pt x="28302" y="1151022"/>
                    <a:pt x="0" y="1122720"/>
                    <a:pt x="0" y="1087808"/>
                  </a:cubicBezTo>
                  <a:lnTo>
                    <a:pt x="0" y="63214"/>
                  </a:lnTo>
                  <a:cubicBezTo>
                    <a:pt x="0" y="28302"/>
                    <a:pt x="28302" y="0"/>
                    <a:pt x="63214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967677" cy="11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53"/>
                </a:lnSpc>
              </a:pP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</a:t>
              </a: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ge, Gender, Region Circle.</a:t>
              </a: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Connection Type (4G, 5G, Fiber).</a:t>
              </a: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Plan Type (Prepaid / Postpaid)</a:t>
              </a: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Contract Type, Tenure.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4888015"/>
            <a:ext cx="3674149" cy="773025"/>
            <a:chOff x="0" y="0"/>
            <a:chExt cx="967677" cy="2035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7677" cy="203595"/>
            </a:xfrm>
            <a:custGeom>
              <a:avLst/>
              <a:gdLst/>
              <a:ahLst/>
              <a:cxnLst/>
              <a:rect r="r" b="b" t="t" l="l"/>
              <a:pathLst>
                <a:path h="203595" w="967677">
                  <a:moveTo>
                    <a:pt x="63214" y="0"/>
                  </a:moveTo>
                  <a:lnTo>
                    <a:pt x="904463" y="0"/>
                  </a:lnTo>
                  <a:cubicBezTo>
                    <a:pt x="939375" y="0"/>
                    <a:pt x="967677" y="28302"/>
                    <a:pt x="967677" y="63214"/>
                  </a:cubicBezTo>
                  <a:lnTo>
                    <a:pt x="967677" y="140381"/>
                  </a:lnTo>
                  <a:cubicBezTo>
                    <a:pt x="967677" y="175293"/>
                    <a:pt x="939375" y="203595"/>
                    <a:pt x="904463" y="203595"/>
                  </a:cubicBezTo>
                  <a:lnTo>
                    <a:pt x="63214" y="203595"/>
                  </a:lnTo>
                  <a:cubicBezTo>
                    <a:pt x="28302" y="203595"/>
                    <a:pt x="0" y="175293"/>
                    <a:pt x="0" y="140381"/>
                  </a:cubicBezTo>
                  <a:lnTo>
                    <a:pt x="0" y="63214"/>
                  </a:lnTo>
                  <a:cubicBezTo>
                    <a:pt x="0" y="28302"/>
                    <a:pt x="28302" y="0"/>
                    <a:pt x="63214" y="0"/>
                  </a:cubicBezTo>
                  <a:close/>
                </a:path>
              </a:pathLst>
            </a:custGeom>
            <a:solidFill>
              <a:srgbClr val="000B3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67677" cy="24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Demographics &amp; Plan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60024" y="4888015"/>
            <a:ext cx="3927744" cy="4370285"/>
            <a:chOff x="0" y="0"/>
            <a:chExt cx="1034468" cy="11510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4468" cy="1151022"/>
            </a:xfrm>
            <a:custGeom>
              <a:avLst/>
              <a:gdLst/>
              <a:ahLst/>
              <a:cxnLst/>
              <a:rect r="r" b="b" t="t" l="l"/>
              <a:pathLst>
                <a:path h="1151022" w="1034468">
                  <a:moveTo>
                    <a:pt x="59133" y="0"/>
                  </a:moveTo>
                  <a:lnTo>
                    <a:pt x="975335" y="0"/>
                  </a:lnTo>
                  <a:cubicBezTo>
                    <a:pt x="1007993" y="0"/>
                    <a:pt x="1034468" y="26475"/>
                    <a:pt x="1034468" y="59133"/>
                  </a:cubicBezTo>
                  <a:lnTo>
                    <a:pt x="1034468" y="1091889"/>
                  </a:lnTo>
                  <a:cubicBezTo>
                    <a:pt x="1034468" y="1124547"/>
                    <a:pt x="1007993" y="1151022"/>
                    <a:pt x="975335" y="1151022"/>
                  </a:cubicBezTo>
                  <a:lnTo>
                    <a:pt x="59133" y="1151022"/>
                  </a:lnTo>
                  <a:cubicBezTo>
                    <a:pt x="26475" y="1151022"/>
                    <a:pt x="0" y="1124547"/>
                    <a:pt x="0" y="1091889"/>
                  </a:cubicBezTo>
                  <a:lnTo>
                    <a:pt x="0" y="59133"/>
                  </a:lnTo>
                  <a:cubicBezTo>
                    <a:pt x="0" y="26475"/>
                    <a:pt x="26475" y="0"/>
                    <a:pt x="59133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47625"/>
              <a:ext cx="1034468" cy="11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Monthly &amp; Total Charges.</a:t>
              </a: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Avg Data (GB/Month)</a:t>
              </a: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Voice Minutes, SMS Count.</a:t>
              </a: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Overage Charges, ARPU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60024" y="4888015"/>
            <a:ext cx="3927744" cy="773025"/>
            <a:chOff x="0" y="0"/>
            <a:chExt cx="1034468" cy="2035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4468" cy="203595"/>
            </a:xfrm>
            <a:custGeom>
              <a:avLst/>
              <a:gdLst/>
              <a:ahLst/>
              <a:cxnLst/>
              <a:rect r="r" b="b" t="t" l="l"/>
              <a:pathLst>
                <a:path h="203595" w="1034468">
                  <a:moveTo>
                    <a:pt x="59133" y="0"/>
                  </a:moveTo>
                  <a:lnTo>
                    <a:pt x="975335" y="0"/>
                  </a:lnTo>
                  <a:cubicBezTo>
                    <a:pt x="1007993" y="0"/>
                    <a:pt x="1034468" y="26475"/>
                    <a:pt x="1034468" y="59133"/>
                  </a:cubicBezTo>
                  <a:lnTo>
                    <a:pt x="1034468" y="144463"/>
                  </a:lnTo>
                  <a:cubicBezTo>
                    <a:pt x="1034468" y="177121"/>
                    <a:pt x="1007993" y="203595"/>
                    <a:pt x="975335" y="203595"/>
                  </a:cubicBezTo>
                  <a:lnTo>
                    <a:pt x="59133" y="203595"/>
                  </a:lnTo>
                  <a:cubicBezTo>
                    <a:pt x="26475" y="203595"/>
                    <a:pt x="0" y="177121"/>
                    <a:pt x="0" y="144463"/>
                  </a:cubicBezTo>
                  <a:lnTo>
                    <a:pt x="0" y="59133"/>
                  </a:lnTo>
                  <a:cubicBezTo>
                    <a:pt x="0" y="26475"/>
                    <a:pt x="26475" y="0"/>
                    <a:pt x="59133" y="0"/>
                  </a:cubicBezTo>
                  <a:close/>
                </a:path>
              </a:pathLst>
            </a:custGeom>
            <a:solidFill>
              <a:srgbClr val="000B3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34468" cy="24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Usage &amp; Billing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249719" y="4888015"/>
            <a:ext cx="3856729" cy="4370285"/>
            <a:chOff x="0" y="0"/>
            <a:chExt cx="1015764" cy="11510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5764" cy="1151022"/>
            </a:xfrm>
            <a:custGeom>
              <a:avLst/>
              <a:gdLst/>
              <a:ahLst/>
              <a:cxnLst/>
              <a:rect r="r" b="b" t="t" l="l"/>
              <a:pathLst>
                <a:path h="1151022" w="1015764">
                  <a:moveTo>
                    <a:pt x="60221" y="0"/>
                  </a:moveTo>
                  <a:lnTo>
                    <a:pt x="955543" y="0"/>
                  </a:lnTo>
                  <a:cubicBezTo>
                    <a:pt x="988802" y="0"/>
                    <a:pt x="1015764" y="26962"/>
                    <a:pt x="1015764" y="60221"/>
                  </a:cubicBezTo>
                  <a:lnTo>
                    <a:pt x="1015764" y="1090800"/>
                  </a:lnTo>
                  <a:cubicBezTo>
                    <a:pt x="1015764" y="1124060"/>
                    <a:pt x="988802" y="1151022"/>
                    <a:pt x="955543" y="1151022"/>
                  </a:cubicBezTo>
                  <a:lnTo>
                    <a:pt x="60221" y="1151022"/>
                  </a:lnTo>
                  <a:cubicBezTo>
                    <a:pt x="26962" y="1151022"/>
                    <a:pt x="0" y="1124060"/>
                    <a:pt x="0" y="1090800"/>
                  </a:cubicBezTo>
                  <a:lnTo>
                    <a:pt x="0" y="60221"/>
                  </a:lnTo>
                  <a:cubicBezTo>
                    <a:pt x="0" y="26962"/>
                    <a:pt x="26962" y="0"/>
                    <a:pt x="60221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47625"/>
              <a:ext cx="1015764" cy="11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53"/>
                </a:lnSpc>
              </a:pP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Network Issues, Dropped Call Rate.</a:t>
              </a: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Complaints Count (3m, 12m).</a:t>
              </a: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Resolution Time (Days).</a:t>
              </a: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Service and NPS Rating.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49719" y="4888015"/>
            <a:ext cx="3856729" cy="773025"/>
            <a:chOff x="0" y="0"/>
            <a:chExt cx="1015764" cy="2035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5764" cy="203595"/>
            </a:xfrm>
            <a:custGeom>
              <a:avLst/>
              <a:gdLst/>
              <a:ahLst/>
              <a:cxnLst/>
              <a:rect r="r" b="b" t="t" l="l"/>
              <a:pathLst>
                <a:path h="203595" w="1015764">
                  <a:moveTo>
                    <a:pt x="60221" y="0"/>
                  </a:moveTo>
                  <a:lnTo>
                    <a:pt x="955543" y="0"/>
                  </a:lnTo>
                  <a:cubicBezTo>
                    <a:pt x="988802" y="0"/>
                    <a:pt x="1015764" y="26962"/>
                    <a:pt x="1015764" y="60221"/>
                  </a:cubicBezTo>
                  <a:lnTo>
                    <a:pt x="1015764" y="143374"/>
                  </a:lnTo>
                  <a:cubicBezTo>
                    <a:pt x="1015764" y="176633"/>
                    <a:pt x="988802" y="203595"/>
                    <a:pt x="955543" y="203595"/>
                  </a:cubicBezTo>
                  <a:lnTo>
                    <a:pt x="60221" y="203595"/>
                  </a:lnTo>
                  <a:cubicBezTo>
                    <a:pt x="26962" y="203595"/>
                    <a:pt x="0" y="176633"/>
                    <a:pt x="0" y="143374"/>
                  </a:cubicBezTo>
                  <a:lnTo>
                    <a:pt x="0" y="60221"/>
                  </a:lnTo>
                  <a:cubicBezTo>
                    <a:pt x="0" y="26962"/>
                    <a:pt x="26962" y="0"/>
                    <a:pt x="60221" y="0"/>
                  </a:cubicBezTo>
                  <a:close/>
                </a:path>
              </a:pathLst>
            </a:custGeom>
            <a:solidFill>
              <a:srgbClr val="000B3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15764" cy="24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Service Experience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366551" y="4888015"/>
            <a:ext cx="3750718" cy="4370285"/>
            <a:chOff x="0" y="0"/>
            <a:chExt cx="987843" cy="115102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87843" cy="1151022"/>
            </a:xfrm>
            <a:custGeom>
              <a:avLst/>
              <a:gdLst/>
              <a:ahLst/>
              <a:cxnLst/>
              <a:rect r="r" b="b" t="t" l="l"/>
              <a:pathLst>
                <a:path h="1151022" w="987843">
                  <a:moveTo>
                    <a:pt x="61923" y="0"/>
                  </a:moveTo>
                  <a:lnTo>
                    <a:pt x="925920" y="0"/>
                  </a:lnTo>
                  <a:cubicBezTo>
                    <a:pt x="960119" y="0"/>
                    <a:pt x="987843" y="27724"/>
                    <a:pt x="987843" y="61923"/>
                  </a:cubicBezTo>
                  <a:lnTo>
                    <a:pt x="987843" y="1089098"/>
                  </a:lnTo>
                  <a:cubicBezTo>
                    <a:pt x="987843" y="1123298"/>
                    <a:pt x="960119" y="1151022"/>
                    <a:pt x="925920" y="1151022"/>
                  </a:cubicBezTo>
                  <a:lnTo>
                    <a:pt x="61923" y="1151022"/>
                  </a:lnTo>
                  <a:cubicBezTo>
                    <a:pt x="27724" y="1151022"/>
                    <a:pt x="0" y="1123298"/>
                    <a:pt x="0" y="1089098"/>
                  </a:cubicBezTo>
                  <a:lnTo>
                    <a:pt x="0" y="61923"/>
                  </a:lnTo>
                  <a:cubicBezTo>
                    <a:pt x="0" y="27724"/>
                    <a:pt x="27724" y="0"/>
                    <a:pt x="61923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47625"/>
              <a:ext cx="987843" cy="1103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53"/>
                </a:lnSpc>
              </a:pP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 Pay  </a:t>
              </a: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Payment Delays (Days)</a:t>
              </a:r>
            </a:p>
            <a:p>
              <a:pPr algn="l">
                <a:lnSpc>
                  <a:spcPts val="2253"/>
                </a:lnSpc>
              </a:pPr>
            </a:p>
            <a:p>
              <a:pPr algn="l" marL="496567" indent="-248284" lvl="1">
                <a:lnSpc>
                  <a:spcPts val="2253"/>
                </a:lnSpc>
                <a:buFont typeface="Arial"/>
                <a:buChar char="•"/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Competitor Offer received.</a:t>
              </a:r>
            </a:p>
            <a:p>
              <a:pPr algn="l">
                <a:lnSpc>
                  <a:spcPts val="2253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363622" y="4888015"/>
            <a:ext cx="3718022" cy="773025"/>
            <a:chOff x="0" y="0"/>
            <a:chExt cx="979232" cy="20359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9232" cy="203595"/>
            </a:xfrm>
            <a:custGeom>
              <a:avLst/>
              <a:gdLst/>
              <a:ahLst/>
              <a:cxnLst/>
              <a:rect r="r" b="b" t="t" l="l"/>
              <a:pathLst>
                <a:path h="203595" w="979232">
                  <a:moveTo>
                    <a:pt x="62468" y="0"/>
                  </a:moveTo>
                  <a:lnTo>
                    <a:pt x="916764" y="0"/>
                  </a:lnTo>
                  <a:cubicBezTo>
                    <a:pt x="933332" y="0"/>
                    <a:pt x="949221" y="6581"/>
                    <a:pt x="960936" y="18296"/>
                  </a:cubicBezTo>
                  <a:cubicBezTo>
                    <a:pt x="972651" y="30012"/>
                    <a:pt x="979232" y="45900"/>
                    <a:pt x="979232" y="62468"/>
                  </a:cubicBezTo>
                  <a:lnTo>
                    <a:pt x="979232" y="141127"/>
                  </a:lnTo>
                  <a:cubicBezTo>
                    <a:pt x="979232" y="157695"/>
                    <a:pt x="972651" y="173584"/>
                    <a:pt x="960936" y="185299"/>
                  </a:cubicBezTo>
                  <a:cubicBezTo>
                    <a:pt x="949221" y="197014"/>
                    <a:pt x="933332" y="203595"/>
                    <a:pt x="916764" y="203595"/>
                  </a:cubicBezTo>
                  <a:lnTo>
                    <a:pt x="62468" y="203595"/>
                  </a:lnTo>
                  <a:cubicBezTo>
                    <a:pt x="45900" y="203595"/>
                    <a:pt x="30012" y="197014"/>
                    <a:pt x="18296" y="185299"/>
                  </a:cubicBezTo>
                  <a:cubicBezTo>
                    <a:pt x="6581" y="173584"/>
                    <a:pt x="0" y="157695"/>
                    <a:pt x="0" y="141127"/>
                  </a:cubicBezTo>
                  <a:lnTo>
                    <a:pt x="0" y="62468"/>
                  </a:lnTo>
                  <a:cubicBezTo>
                    <a:pt x="0" y="45900"/>
                    <a:pt x="6581" y="30012"/>
                    <a:pt x="18296" y="18296"/>
                  </a:cubicBezTo>
                  <a:cubicBezTo>
                    <a:pt x="30012" y="6581"/>
                    <a:pt x="45900" y="0"/>
                    <a:pt x="62468" y="0"/>
                  </a:cubicBezTo>
                  <a:close/>
                </a:path>
              </a:pathLst>
            </a:custGeom>
            <a:solidFill>
              <a:srgbClr val="000B3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79232" cy="24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Payment &amp; Competitor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21167" y="0"/>
                  </a:moveTo>
                  <a:lnTo>
                    <a:pt x="4795426" y="0"/>
                  </a:lnTo>
                  <a:cubicBezTo>
                    <a:pt x="4801040" y="0"/>
                    <a:pt x="4806423" y="2230"/>
                    <a:pt x="4810393" y="6200"/>
                  </a:cubicBezTo>
                  <a:cubicBezTo>
                    <a:pt x="4814362" y="10169"/>
                    <a:pt x="4816592" y="15553"/>
                    <a:pt x="4816592" y="21167"/>
                  </a:cubicBezTo>
                  <a:lnTo>
                    <a:pt x="4816592" y="249767"/>
                  </a:lnTo>
                  <a:cubicBezTo>
                    <a:pt x="4816592" y="261457"/>
                    <a:pt x="4807116" y="270933"/>
                    <a:pt x="4795426" y="270933"/>
                  </a:cubicBezTo>
                  <a:lnTo>
                    <a:pt x="21167" y="270933"/>
                  </a:lnTo>
                  <a:cubicBezTo>
                    <a:pt x="9477" y="270933"/>
                    <a:pt x="0" y="261457"/>
                    <a:pt x="0" y="249767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11676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4816593" cy="19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63599" indent="-43180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What the Data Told Us –  EDA Highlights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84657" y="777332"/>
            <a:ext cx="10940353" cy="4931186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27039" y="1028700"/>
            <a:ext cx="9116961" cy="660328"/>
            <a:chOff x="0" y="0"/>
            <a:chExt cx="2401175" cy="1739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1175" cy="173914"/>
            </a:xfrm>
            <a:custGeom>
              <a:avLst/>
              <a:gdLst/>
              <a:ahLst/>
              <a:cxnLst/>
              <a:rect r="r" b="b" t="t" l="l"/>
              <a:pathLst>
                <a:path h="173914" w="2401175">
                  <a:moveTo>
                    <a:pt x="25475" y="0"/>
                  </a:moveTo>
                  <a:lnTo>
                    <a:pt x="2375700" y="0"/>
                  </a:lnTo>
                  <a:cubicBezTo>
                    <a:pt x="2389769" y="0"/>
                    <a:pt x="2401175" y="11406"/>
                    <a:pt x="2401175" y="25475"/>
                  </a:cubicBezTo>
                  <a:lnTo>
                    <a:pt x="2401175" y="148438"/>
                  </a:lnTo>
                  <a:cubicBezTo>
                    <a:pt x="2401175" y="162508"/>
                    <a:pt x="2389769" y="173914"/>
                    <a:pt x="2375700" y="173914"/>
                  </a:cubicBezTo>
                  <a:lnTo>
                    <a:pt x="25475" y="173914"/>
                  </a:lnTo>
                  <a:cubicBezTo>
                    <a:pt x="18719" y="173914"/>
                    <a:pt x="12239" y="171230"/>
                    <a:pt x="7462" y="166452"/>
                  </a:cubicBezTo>
                  <a:cubicBezTo>
                    <a:pt x="2684" y="161675"/>
                    <a:pt x="0" y="155195"/>
                    <a:pt x="0" y="148438"/>
                  </a:cubicBezTo>
                  <a:lnTo>
                    <a:pt x="0" y="25475"/>
                  </a:lnTo>
                  <a:cubicBezTo>
                    <a:pt x="0" y="11406"/>
                    <a:pt x="11406" y="0"/>
                    <a:pt x="25475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2401175" cy="126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3"/>
                </a:lnSpc>
              </a:pPr>
              <a:r>
                <a:rPr lang="en-US" b="true" sz="22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Churn Rate by Segment (%)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1165635"/>
            <a:ext cx="4303508" cy="1567987"/>
            <a:chOff x="0" y="0"/>
            <a:chExt cx="1133434" cy="4129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3434" cy="412968"/>
            </a:xfrm>
            <a:custGeom>
              <a:avLst/>
              <a:gdLst/>
              <a:ahLst/>
              <a:cxnLst/>
              <a:rect r="r" b="b" t="t" l="l"/>
              <a:pathLst>
                <a:path h="412968" w="1133434">
                  <a:moveTo>
                    <a:pt x="53969" y="0"/>
                  </a:moveTo>
                  <a:lnTo>
                    <a:pt x="1079465" y="0"/>
                  </a:lnTo>
                  <a:cubicBezTo>
                    <a:pt x="1093778" y="0"/>
                    <a:pt x="1107506" y="5686"/>
                    <a:pt x="1117627" y="15807"/>
                  </a:cubicBezTo>
                  <a:cubicBezTo>
                    <a:pt x="1127748" y="25928"/>
                    <a:pt x="1133434" y="39656"/>
                    <a:pt x="1133434" y="53969"/>
                  </a:cubicBezTo>
                  <a:lnTo>
                    <a:pt x="1133434" y="358998"/>
                  </a:lnTo>
                  <a:cubicBezTo>
                    <a:pt x="1133434" y="388805"/>
                    <a:pt x="1109271" y="412968"/>
                    <a:pt x="1079465" y="412968"/>
                  </a:cubicBezTo>
                  <a:lnTo>
                    <a:pt x="53969" y="412968"/>
                  </a:lnTo>
                  <a:cubicBezTo>
                    <a:pt x="24163" y="412968"/>
                    <a:pt x="0" y="388805"/>
                    <a:pt x="0" y="358998"/>
                  </a:cubicBezTo>
                  <a:lnTo>
                    <a:pt x="0" y="53969"/>
                  </a:lnTo>
                  <a:cubicBezTo>
                    <a:pt x="0" y="24163"/>
                    <a:pt x="24163" y="0"/>
                    <a:pt x="53969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57150"/>
              <a:ext cx="1133434" cy="355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1"/>
                </a:lnSpc>
              </a:pPr>
              <a:r>
                <a:rPr lang="en-US" sz="23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Prepaid Plan</a:t>
              </a:r>
            </a:p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sz="18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70% customers</a:t>
              </a:r>
            </a:p>
            <a:p>
              <a:pPr algn="ctr">
                <a:lnSpc>
                  <a:spcPts val="1764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b="true" sz="1800">
                  <a:solidFill>
                    <a:srgbClr val="FF282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Highest Churn Segment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86237" y="1165635"/>
            <a:ext cx="4445539" cy="1581785"/>
            <a:chOff x="0" y="0"/>
            <a:chExt cx="1170841" cy="4166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0841" cy="416602"/>
            </a:xfrm>
            <a:custGeom>
              <a:avLst/>
              <a:gdLst/>
              <a:ahLst/>
              <a:cxnLst/>
              <a:rect r="r" b="b" t="t" l="l"/>
              <a:pathLst>
                <a:path h="416602" w="1170841">
                  <a:moveTo>
                    <a:pt x="52245" y="0"/>
                  </a:moveTo>
                  <a:lnTo>
                    <a:pt x="1118596" y="0"/>
                  </a:lnTo>
                  <a:cubicBezTo>
                    <a:pt x="1147451" y="0"/>
                    <a:pt x="1170841" y="23391"/>
                    <a:pt x="1170841" y="52245"/>
                  </a:cubicBezTo>
                  <a:lnTo>
                    <a:pt x="1170841" y="364357"/>
                  </a:lnTo>
                  <a:cubicBezTo>
                    <a:pt x="1170841" y="378213"/>
                    <a:pt x="1165337" y="391502"/>
                    <a:pt x="1155539" y="401299"/>
                  </a:cubicBezTo>
                  <a:cubicBezTo>
                    <a:pt x="1145741" y="411097"/>
                    <a:pt x="1132453" y="416602"/>
                    <a:pt x="1118596" y="416602"/>
                  </a:cubicBezTo>
                  <a:lnTo>
                    <a:pt x="52245" y="416602"/>
                  </a:lnTo>
                  <a:cubicBezTo>
                    <a:pt x="38389" y="416602"/>
                    <a:pt x="25100" y="411097"/>
                    <a:pt x="15302" y="401299"/>
                  </a:cubicBezTo>
                  <a:cubicBezTo>
                    <a:pt x="5504" y="391502"/>
                    <a:pt x="0" y="378213"/>
                    <a:pt x="0" y="364357"/>
                  </a:cubicBezTo>
                  <a:lnTo>
                    <a:pt x="0" y="52245"/>
                  </a:lnTo>
                  <a:cubicBezTo>
                    <a:pt x="0" y="38389"/>
                    <a:pt x="5504" y="25100"/>
                    <a:pt x="15302" y="15302"/>
                  </a:cubicBezTo>
                  <a:cubicBezTo>
                    <a:pt x="25100" y="5504"/>
                    <a:pt x="38389" y="0"/>
                    <a:pt x="52245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1170841" cy="368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8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 Contract</a:t>
              </a:r>
            </a:p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sz="18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17522 Customers</a:t>
              </a:r>
            </a:p>
            <a:p>
              <a:pPr algn="ctr">
                <a:lnSpc>
                  <a:spcPts val="1764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b="true" sz="1800">
                  <a:solidFill>
                    <a:srgbClr val="FF282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 commitment – Easy exit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2952696"/>
            <a:ext cx="4303508" cy="1844126"/>
            <a:chOff x="0" y="0"/>
            <a:chExt cx="1133434" cy="4856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434" cy="485696"/>
            </a:xfrm>
            <a:custGeom>
              <a:avLst/>
              <a:gdLst/>
              <a:ahLst/>
              <a:cxnLst/>
              <a:rect r="r" b="b" t="t" l="l"/>
              <a:pathLst>
                <a:path h="485696" w="1133434">
                  <a:moveTo>
                    <a:pt x="53969" y="0"/>
                  </a:moveTo>
                  <a:lnTo>
                    <a:pt x="1079465" y="0"/>
                  </a:lnTo>
                  <a:cubicBezTo>
                    <a:pt x="1093778" y="0"/>
                    <a:pt x="1107506" y="5686"/>
                    <a:pt x="1117627" y="15807"/>
                  </a:cubicBezTo>
                  <a:cubicBezTo>
                    <a:pt x="1127748" y="25928"/>
                    <a:pt x="1133434" y="39656"/>
                    <a:pt x="1133434" y="53969"/>
                  </a:cubicBezTo>
                  <a:lnTo>
                    <a:pt x="1133434" y="431726"/>
                  </a:lnTo>
                  <a:cubicBezTo>
                    <a:pt x="1133434" y="461533"/>
                    <a:pt x="1109271" y="485696"/>
                    <a:pt x="1079465" y="485696"/>
                  </a:cubicBezTo>
                  <a:lnTo>
                    <a:pt x="53969" y="485696"/>
                  </a:lnTo>
                  <a:cubicBezTo>
                    <a:pt x="24163" y="485696"/>
                    <a:pt x="0" y="461533"/>
                    <a:pt x="0" y="431726"/>
                  </a:cubicBezTo>
                  <a:lnTo>
                    <a:pt x="0" y="53969"/>
                  </a:lnTo>
                  <a:cubicBezTo>
                    <a:pt x="0" y="24163"/>
                    <a:pt x="24163" y="0"/>
                    <a:pt x="53969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1133434" cy="438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8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Users</a:t>
              </a:r>
            </a:p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sz="18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4G: 51.1% of customer base</a:t>
              </a:r>
            </a:p>
            <a:p>
              <a:pPr algn="ctr">
                <a:lnSpc>
                  <a:spcPts val="1764"/>
                </a:lnSpc>
              </a:pPr>
              <a:r>
                <a:rPr lang="en-US" sz="18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5G: 30% of customer base</a:t>
              </a:r>
            </a:p>
            <a:p>
              <a:pPr algn="ctr">
                <a:lnSpc>
                  <a:spcPts val="1764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b="true" sz="1800">
                  <a:solidFill>
                    <a:srgbClr val="FFD69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Better network – more stable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686237" y="2952696"/>
            <a:ext cx="4445539" cy="1828854"/>
            <a:chOff x="0" y="0"/>
            <a:chExt cx="1170841" cy="4816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0841" cy="481673"/>
            </a:xfrm>
            <a:custGeom>
              <a:avLst/>
              <a:gdLst/>
              <a:ahLst/>
              <a:cxnLst/>
              <a:rect r="r" b="b" t="t" l="l"/>
              <a:pathLst>
                <a:path h="481673" w="1170841">
                  <a:moveTo>
                    <a:pt x="52245" y="0"/>
                  </a:moveTo>
                  <a:lnTo>
                    <a:pt x="1118596" y="0"/>
                  </a:lnTo>
                  <a:cubicBezTo>
                    <a:pt x="1147451" y="0"/>
                    <a:pt x="1170841" y="23391"/>
                    <a:pt x="1170841" y="52245"/>
                  </a:cubicBezTo>
                  <a:lnTo>
                    <a:pt x="1170841" y="429428"/>
                  </a:lnTo>
                  <a:cubicBezTo>
                    <a:pt x="1170841" y="458283"/>
                    <a:pt x="1147451" y="481673"/>
                    <a:pt x="1118596" y="481673"/>
                  </a:cubicBezTo>
                  <a:lnTo>
                    <a:pt x="52245" y="481673"/>
                  </a:lnTo>
                  <a:cubicBezTo>
                    <a:pt x="38389" y="481673"/>
                    <a:pt x="25100" y="476169"/>
                    <a:pt x="15302" y="466371"/>
                  </a:cubicBezTo>
                  <a:cubicBezTo>
                    <a:pt x="5504" y="456573"/>
                    <a:pt x="0" y="443285"/>
                    <a:pt x="0" y="429428"/>
                  </a:cubicBezTo>
                  <a:lnTo>
                    <a:pt x="0" y="52245"/>
                  </a:lnTo>
                  <a:cubicBezTo>
                    <a:pt x="0" y="38389"/>
                    <a:pt x="5504" y="25100"/>
                    <a:pt x="15302" y="15302"/>
                  </a:cubicBezTo>
                  <a:cubicBezTo>
                    <a:pt x="25100" y="5504"/>
                    <a:pt x="38389" y="0"/>
                    <a:pt x="52245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1170841" cy="434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8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Postpaid Plan</a:t>
              </a:r>
            </a:p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sz="18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29.9% customers</a:t>
              </a:r>
            </a:p>
            <a:p>
              <a:pPr algn="ctr">
                <a:lnSpc>
                  <a:spcPts val="1764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b="true" sz="1800">
                  <a:solidFill>
                    <a:srgbClr val="00687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More loyal – Lower churn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651440" y="5143500"/>
            <a:ext cx="5480335" cy="1581785"/>
            <a:chOff x="0" y="0"/>
            <a:chExt cx="1443380" cy="4166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43380" cy="416602"/>
            </a:xfrm>
            <a:custGeom>
              <a:avLst/>
              <a:gdLst/>
              <a:ahLst/>
              <a:cxnLst/>
              <a:rect r="r" b="b" t="t" l="l"/>
              <a:pathLst>
                <a:path h="416602" w="1443380">
                  <a:moveTo>
                    <a:pt x="42380" y="0"/>
                  </a:moveTo>
                  <a:lnTo>
                    <a:pt x="1401000" y="0"/>
                  </a:lnTo>
                  <a:cubicBezTo>
                    <a:pt x="1424406" y="0"/>
                    <a:pt x="1443380" y="18974"/>
                    <a:pt x="1443380" y="42380"/>
                  </a:cubicBezTo>
                  <a:lnTo>
                    <a:pt x="1443380" y="374222"/>
                  </a:lnTo>
                  <a:cubicBezTo>
                    <a:pt x="1443380" y="397627"/>
                    <a:pt x="1424406" y="416602"/>
                    <a:pt x="1401000" y="416602"/>
                  </a:cubicBezTo>
                  <a:lnTo>
                    <a:pt x="42380" y="416602"/>
                  </a:lnTo>
                  <a:cubicBezTo>
                    <a:pt x="18974" y="416602"/>
                    <a:pt x="0" y="397627"/>
                    <a:pt x="0" y="374222"/>
                  </a:cubicBezTo>
                  <a:lnTo>
                    <a:pt x="0" y="42380"/>
                  </a:lnTo>
                  <a:cubicBezTo>
                    <a:pt x="0" y="18974"/>
                    <a:pt x="18974" y="0"/>
                    <a:pt x="42380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1443380" cy="368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8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New Customer Vulnerability</a:t>
              </a:r>
            </a:p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Customers within 12 months churn 2x faster. Onboarding is critical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43482" y="5143500"/>
            <a:ext cx="5390290" cy="1581785"/>
            <a:chOff x="0" y="0"/>
            <a:chExt cx="1419665" cy="4166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9665" cy="416602"/>
            </a:xfrm>
            <a:custGeom>
              <a:avLst/>
              <a:gdLst/>
              <a:ahLst/>
              <a:cxnLst/>
              <a:rect r="r" b="b" t="t" l="l"/>
              <a:pathLst>
                <a:path h="416602" w="1419665">
                  <a:moveTo>
                    <a:pt x="43088" y="0"/>
                  </a:moveTo>
                  <a:lnTo>
                    <a:pt x="1376577" y="0"/>
                  </a:lnTo>
                  <a:cubicBezTo>
                    <a:pt x="1388004" y="0"/>
                    <a:pt x="1398964" y="4540"/>
                    <a:pt x="1407045" y="12620"/>
                  </a:cubicBezTo>
                  <a:cubicBezTo>
                    <a:pt x="1415125" y="20701"/>
                    <a:pt x="1419665" y="31660"/>
                    <a:pt x="1419665" y="43088"/>
                  </a:cubicBezTo>
                  <a:lnTo>
                    <a:pt x="1419665" y="373514"/>
                  </a:lnTo>
                  <a:cubicBezTo>
                    <a:pt x="1419665" y="384941"/>
                    <a:pt x="1415125" y="395901"/>
                    <a:pt x="1407045" y="403981"/>
                  </a:cubicBezTo>
                  <a:cubicBezTo>
                    <a:pt x="1398964" y="412062"/>
                    <a:pt x="1388004" y="416602"/>
                    <a:pt x="1376577" y="416602"/>
                  </a:cubicBezTo>
                  <a:lnTo>
                    <a:pt x="43088" y="416602"/>
                  </a:lnTo>
                  <a:cubicBezTo>
                    <a:pt x="31660" y="416602"/>
                    <a:pt x="20701" y="412062"/>
                    <a:pt x="12620" y="403981"/>
                  </a:cubicBezTo>
                  <a:cubicBezTo>
                    <a:pt x="4540" y="395901"/>
                    <a:pt x="0" y="384941"/>
                    <a:pt x="0" y="373514"/>
                  </a:cubicBezTo>
                  <a:lnTo>
                    <a:pt x="0" y="43088"/>
                  </a:lnTo>
                  <a:cubicBezTo>
                    <a:pt x="0" y="31660"/>
                    <a:pt x="4540" y="20701"/>
                    <a:pt x="12620" y="12620"/>
                  </a:cubicBezTo>
                  <a:cubicBezTo>
                    <a:pt x="20701" y="4540"/>
                    <a:pt x="31660" y="0"/>
                    <a:pt x="43088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47625"/>
              <a:ext cx="1419665" cy="368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8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Tenure</a:t>
              </a:r>
            </a:p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sz="18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Avg tenure = 60 months</a:t>
              </a:r>
            </a:p>
            <a:p>
              <a:pPr algn="ctr">
                <a:lnSpc>
                  <a:spcPts val="1764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b="true" sz="1800">
                  <a:solidFill>
                    <a:srgbClr val="00687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Fairly stable long - term customer base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71947" y="5143500"/>
            <a:ext cx="5744107" cy="1581785"/>
            <a:chOff x="0" y="0"/>
            <a:chExt cx="1512851" cy="4166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12851" cy="416602"/>
            </a:xfrm>
            <a:custGeom>
              <a:avLst/>
              <a:gdLst/>
              <a:ahLst/>
              <a:cxnLst/>
              <a:rect r="r" b="b" t="t" l="l"/>
              <a:pathLst>
                <a:path h="416602" w="1512851">
                  <a:moveTo>
                    <a:pt x="40434" y="0"/>
                  </a:moveTo>
                  <a:lnTo>
                    <a:pt x="1472417" y="0"/>
                  </a:lnTo>
                  <a:cubicBezTo>
                    <a:pt x="1483141" y="0"/>
                    <a:pt x="1493425" y="4260"/>
                    <a:pt x="1501008" y="11843"/>
                  </a:cubicBezTo>
                  <a:cubicBezTo>
                    <a:pt x="1508591" y="19426"/>
                    <a:pt x="1512851" y="29710"/>
                    <a:pt x="1512851" y="40434"/>
                  </a:cubicBezTo>
                  <a:lnTo>
                    <a:pt x="1512851" y="376168"/>
                  </a:lnTo>
                  <a:cubicBezTo>
                    <a:pt x="1512851" y="398499"/>
                    <a:pt x="1494748" y="416602"/>
                    <a:pt x="1472417" y="416602"/>
                  </a:cubicBezTo>
                  <a:lnTo>
                    <a:pt x="40434" y="416602"/>
                  </a:lnTo>
                  <a:cubicBezTo>
                    <a:pt x="29710" y="416602"/>
                    <a:pt x="19426" y="412342"/>
                    <a:pt x="11843" y="404759"/>
                  </a:cubicBezTo>
                  <a:cubicBezTo>
                    <a:pt x="4260" y="397176"/>
                    <a:pt x="0" y="386891"/>
                    <a:pt x="0" y="376168"/>
                  </a:cubicBezTo>
                  <a:lnTo>
                    <a:pt x="0" y="40434"/>
                  </a:lnTo>
                  <a:cubicBezTo>
                    <a:pt x="0" y="29710"/>
                    <a:pt x="4260" y="19426"/>
                    <a:pt x="11843" y="11843"/>
                  </a:cubicBezTo>
                  <a:cubicBezTo>
                    <a:pt x="19426" y="4260"/>
                    <a:pt x="29710" y="0"/>
                    <a:pt x="40434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47625"/>
              <a:ext cx="1512851" cy="368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8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Monthly Charges</a:t>
              </a:r>
            </a:p>
            <a:p>
              <a:pPr algn="ctr">
                <a:lnSpc>
                  <a:spcPts val="2939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sz="18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Avg charge = ₹475/month</a:t>
              </a:r>
            </a:p>
            <a:p>
              <a:pPr algn="ctr">
                <a:lnSpc>
                  <a:spcPts val="1764"/>
                </a:lnSpc>
              </a:pPr>
            </a:p>
            <a:p>
              <a:pPr algn="ctr">
                <a:lnSpc>
                  <a:spcPts val="1764"/>
                </a:lnSpc>
              </a:pPr>
              <a:r>
                <a:rPr lang="en-US" b="true" sz="1800">
                  <a:solidFill>
                    <a:srgbClr val="FF282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High variation (₹99/- – ₹1603/-)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43482" y="7087730"/>
            <a:ext cx="8523854" cy="1309675"/>
            <a:chOff x="0" y="0"/>
            <a:chExt cx="2244966" cy="3449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44966" cy="344935"/>
            </a:xfrm>
            <a:custGeom>
              <a:avLst/>
              <a:gdLst/>
              <a:ahLst/>
              <a:cxnLst/>
              <a:rect r="r" b="b" t="t" l="l"/>
              <a:pathLst>
                <a:path h="344935" w="2244966">
                  <a:moveTo>
                    <a:pt x="27248" y="0"/>
                  </a:moveTo>
                  <a:lnTo>
                    <a:pt x="2217718" y="0"/>
                  </a:lnTo>
                  <a:cubicBezTo>
                    <a:pt x="2224944" y="0"/>
                    <a:pt x="2231875" y="2871"/>
                    <a:pt x="2236985" y="7981"/>
                  </a:cubicBezTo>
                  <a:cubicBezTo>
                    <a:pt x="2242095" y="13091"/>
                    <a:pt x="2244966" y="20021"/>
                    <a:pt x="2244966" y="27248"/>
                  </a:cubicBezTo>
                  <a:lnTo>
                    <a:pt x="2244966" y="317687"/>
                  </a:lnTo>
                  <a:cubicBezTo>
                    <a:pt x="2244966" y="324914"/>
                    <a:pt x="2242095" y="331844"/>
                    <a:pt x="2236985" y="336954"/>
                  </a:cubicBezTo>
                  <a:cubicBezTo>
                    <a:pt x="2231875" y="342064"/>
                    <a:pt x="2224944" y="344935"/>
                    <a:pt x="2217718" y="344935"/>
                  </a:cubicBezTo>
                  <a:lnTo>
                    <a:pt x="27248" y="344935"/>
                  </a:lnTo>
                  <a:cubicBezTo>
                    <a:pt x="20021" y="344935"/>
                    <a:pt x="13091" y="342064"/>
                    <a:pt x="7981" y="336954"/>
                  </a:cubicBezTo>
                  <a:cubicBezTo>
                    <a:pt x="2871" y="331844"/>
                    <a:pt x="0" y="324914"/>
                    <a:pt x="0" y="317687"/>
                  </a:cubicBezTo>
                  <a:lnTo>
                    <a:pt x="0" y="27248"/>
                  </a:lnTo>
                  <a:cubicBezTo>
                    <a:pt x="0" y="20021"/>
                    <a:pt x="2871" y="13091"/>
                    <a:pt x="7981" y="7981"/>
                  </a:cubicBezTo>
                  <a:cubicBezTo>
                    <a:pt x="13091" y="2871"/>
                    <a:pt x="20021" y="0"/>
                    <a:pt x="27248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47625"/>
              <a:ext cx="2244966" cy="29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547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📊 NPS Average = 20</a:t>
              </a:r>
            </a:p>
            <a:p>
              <a:pPr algn="just">
                <a:lnSpc>
                  <a:spcPts val="2547"/>
                </a:lnSpc>
              </a:pPr>
            </a:p>
            <a:p>
              <a:pPr algn="just">
                <a:lnSpc>
                  <a:spcPts val="1764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Low, ‘okay’ customers are easy to lose. Strong churn predictor.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07921" y="7087730"/>
            <a:ext cx="8523854" cy="1309675"/>
            <a:chOff x="0" y="0"/>
            <a:chExt cx="2244966" cy="3449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44966" cy="344935"/>
            </a:xfrm>
            <a:custGeom>
              <a:avLst/>
              <a:gdLst/>
              <a:ahLst/>
              <a:cxnLst/>
              <a:rect r="r" b="b" t="t" l="l"/>
              <a:pathLst>
                <a:path h="344935" w="2244966">
                  <a:moveTo>
                    <a:pt x="27248" y="0"/>
                  </a:moveTo>
                  <a:lnTo>
                    <a:pt x="2217718" y="0"/>
                  </a:lnTo>
                  <a:cubicBezTo>
                    <a:pt x="2224944" y="0"/>
                    <a:pt x="2231875" y="2871"/>
                    <a:pt x="2236985" y="7981"/>
                  </a:cubicBezTo>
                  <a:cubicBezTo>
                    <a:pt x="2242095" y="13091"/>
                    <a:pt x="2244966" y="20021"/>
                    <a:pt x="2244966" y="27248"/>
                  </a:cubicBezTo>
                  <a:lnTo>
                    <a:pt x="2244966" y="317687"/>
                  </a:lnTo>
                  <a:cubicBezTo>
                    <a:pt x="2244966" y="324914"/>
                    <a:pt x="2242095" y="331844"/>
                    <a:pt x="2236985" y="336954"/>
                  </a:cubicBezTo>
                  <a:cubicBezTo>
                    <a:pt x="2231875" y="342064"/>
                    <a:pt x="2224944" y="344935"/>
                    <a:pt x="2217718" y="344935"/>
                  </a:cubicBezTo>
                  <a:lnTo>
                    <a:pt x="27248" y="344935"/>
                  </a:lnTo>
                  <a:cubicBezTo>
                    <a:pt x="20021" y="344935"/>
                    <a:pt x="13091" y="342064"/>
                    <a:pt x="7981" y="336954"/>
                  </a:cubicBezTo>
                  <a:cubicBezTo>
                    <a:pt x="2871" y="331844"/>
                    <a:pt x="0" y="324914"/>
                    <a:pt x="0" y="317687"/>
                  </a:cubicBezTo>
                  <a:lnTo>
                    <a:pt x="0" y="27248"/>
                  </a:lnTo>
                  <a:cubicBezTo>
                    <a:pt x="0" y="20021"/>
                    <a:pt x="2871" y="13091"/>
                    <a:pt x="7981" y="7981"/>
                  </a:cubicBezTo>
                  <a:cubicBezTo>
                    <a:pt x="13091" y="2871"/>
                    <a:pt x="20021" y="0"/>
                    <a:pt x="27248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47625"/>
              <a:ext cx="2244966" cy="29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547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⭐Service Rating = 3.8 / 5</a:t>
              </a:r>
            </a:p>
            <a:p>
              <a:pPr algn="just">
                <a:lnSpc>
                  <a:spcPts val="2547"/>
                </a:lnSpc>
              </a:pPr>
            </a:p>
            <a:p>
              <a:pPr algn="just">
                <a:lnSpc>
                  <a:spcPts val="1764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Insufficient  satisfaction across base.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43482" y="8586472"/>
            <a:ext cx="8523854" cy="1343655"/>
            <a:chOff x="0" y="0"/>
            <a:chExt cx="2244966" cy="35388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44966" cy="353885"/>
            </a:xfrm>
            <a:custGeom>
              <a:avLst/>
              <a:gdLst/>
              <a:ahLst/>
              <a:cxnLst/>
              <a:rect r="r" b="b" t="t" l="l"/>
              <a:pathLst>
                <a:path h="353885" w="2244966">
                  <a:moveTo>
                    <a:pt x="27248" y="0"/>
                  </a:moveTo>
                  <a:lnTo>
                    <a:pt x="2217718" y="0"/>
                  </a:lnTo>
                  <a:cubicBezTo>
                    <a:pt x="2224944" y="0"/>
                    <a:pt x="2231875" y="2871"/>
                    <a:pt x="2236985" y="7981"/>
                  </a:cubicBezTo>
                  <a:cubicBezTo>
                    <a:pt x="2242095" y="13091"/>
                    <a:pt x="2244966" y="20021"/>
                    <a:pt x="2244966" y="27248"/>
                  </a:cubicBezTo>
                  <a:lnTo>
                    <a:pt x="2244966" y="326637"/>
                  </a:lnTo>
                  <a:cubicBezTo>
                    <a:pt x="2244966" y="333863"/>
                    <a:pt x="2242095" y="340794"/>
                    <a:pt x="2236985" y="345904"/>
                  </a:cubicBezTo>
                  <a:cubicBezTo>
                    <a:pt x="2231875" y="351014"/>
                    <a:pt x="2224944" y="353885"/>
                    <a:pt x="2217718" y="353885"/>
                  </a:cubicBezTo>
                  <a:lnTo>
                    <a:pt x="27248" y="353885"/>
                  </a:lnTo>
                  <a:cubicBezTo>
                    <a:pt x="12199" y="353885"/>
                    <a:pt x="0" y="341685"/>
                    <a:pt x="0" y="326637"/>
                  </a:cubicBezTo>
                  <a:lnTo>
                    <a:pt x="0" y="27248"/>
                  </a:lnTo>
                  <a:cubicBezTo>
                    <a:pt x="0" y="20021"/>
                    <a:pt x="2871" y="13091"/>
                    <a:pt x="7981" y="7981"/>
                  </a:cubicBezTo>
                  <a:cubicBezTo>
                    <a:pt x="13091" y="2871"/>
                    <a:pt x="20021" y="0"/>
                    <a:pt x="27248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47625"/>
              <a:ext cx="2244966" cy="306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547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💳20% Late Payers</a:t>
              </a:r>
            </a:p>
            <a:p>
              <a:pPr algn="just">
                <a:lnSpc>
                  <a:spcPts val="1764"/>
                </a:lnSpc>
              </a:pPr>
            </a:p>
            <a:p>
              <a:pPr algn="just">
                <a:lnSpc>
                  <a:spcPts val="1764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Only 40% on autopay = weak behavioral commitment.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07921" y="8620452"/>
            <a:ext cx="8523854" cy="1309675"/>
            <a:chOff x="0" y="0"/>
            <a:chExt cx="2244966" cy="34493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44966" cy="344935"/>
            </a:xfrm>
            <a:custGeom>
              <a:avLst/>
              <a:gdLst/>
              <a:ahLst/>
              <a:cxnLst/>
              <a:rect r="r" b="b" t="t" l="l"/>
              <a:pathLst>
                <a:path h="344935" w="2244966">
                  <a:moveTo>
                    <a:pt x="27248" y="0"/>
                  </a:moveTo>
                  <a:lnTo>
                    <a:pt x="2217718" y="0"/>
                  </a:lnTo>
                  <a:cubicBezTo>
                    <a:pt x="2224944" y="0"/>
                    <a:pt x="2231875" y="2871"/>
                    <a:pt x="2236985" y="7981"/>
                  </a:cubicBezTo>
                  <a:cubicBezTo>
                    <a:pt x="2242095" y="13091"/>
                    <a:pt x="2244966" y="20021"/>
                    <a:pt x="2244966" y="27248"/>
                  </a:cubicBezTo>
                  <a:lnTo>
                    <a:pt x="2244966" y="317687"/>
                  </a:lnTo>
                  <a:cubicBezTo>
                    <a:pt x="2244966" y="324914"/>
                    <a:pt x="2242095" y="331844"/>
                    <a:pt x="2236985" y="336954"/>
                  </a:cubicBezTo>
                  <a:cubicBezTo>
                    <a:pt x="2231875" y="342064"/>
                    <a:pt x="2224944" y="344935"/>
                    <a:pt x="2217718" y="344935"/>
                  </a:cubicBezTo>
                  <a:lnTo>
                    <a:pt x="27248" y="344935"/>
                  </a:lnTo>
                  <a:cubicBezTo>
                    <a:pt x="20021" y="344935"/>
                    <a:pt x="13091" y="342064"/>
                    <a:pt x="7981" y="336954"/>
                  </a:cubicBezTo>
                  <a:cubicBezTo>
                    <a:pt x="2871" y="331844"/>
                    <a:pt x="0" y="324914"/>
                    <a:pt x="0" y="317687"/>
                  </a:cubicBezTo>
                  <a:lnTo>
                    <a:pt x="0" y="27248"/>
                  </a:lnTo>
                  <a:cubicBezTo>
                    <a:pt x="0" y="20021"/>
                    <a:pt x="2871" y="13091"/>
                    <a:pt x="7981" y="7981"/>
                  </a:cubicBezTo>
                  <a:cubicBezTo>
                    <a:pt x="13091" y="2871"/>
                    <a:pt x="20021" y="0"/>
                    <a:pt x="27248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47625"/>
              <a:ext cx="2244966" cy="29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547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📱 ~8 logins/month</a:t>
              </a:r>
            </a:p>
            <a:p>
              <a:pPr algn="just">
                <a:lnSpc>
                  <a:spcPts val="1764"/>
                </a:lnSpc>
              </a:pPr>
            </a:p>
            <a:p>
              <a:pPr algn="just">
                <a:lnSpc>
                  <a:spcPts val="1764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Low engagement. Self -care transactions ~2 per month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21167" y="0"/>
                  </a:moveTo>
                  <a:lnTo>
                    <a:pt x="4795426" y="0"/>
                  </a:lnTo>
                  <a:cubicBezTo>
                    <a:pt x="4801040" y="0"/>
                    <a:pt x="4806423" y="2230"/>
                    <a:pt x="4810393" y="6200"/>
                  </a:cubicBezTo>
                  <a:cubicBezTo>
                    <a:pt x="4814362" y="10169"/>
                    <a:pt x="4816592" y="15553"/>
                    <a:pt x="4816592" y="21167"/>
                  </a:cubicBezTo>
                  <a:lnTo>
                    <a:pt x="4816592" y="249767"/>
                  </a:lnTo>
                  <a:cubicBezTo>
                    <a:pt x="4816592" y="261457"/>
                    <a:pt x="4807116" y="270933"/>
                    <a:pt x="4795426" y="270933"/>
                  </a:cubicBezTo>
                  <a:lnTo>
                    <a:pt x="21167" y="270933"/>
                  </a:lnTo>
                  <a:cubicBezTo>
                    <a:pt x="9477" y="270933"/>
                    <a:pt x="0" y="261457"/>
                    <a:pt x="0" y="249767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00687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Model Building 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1729" y="1191021"/>
            <a:ext cx="7466767" cy="2923779"/>
            <a:chOff x="0" y="0"/>
            <a:chExt cx="1966556" cy="7700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6556" cy="770049"/>
            </a:xfrm>
            <a:custGeom>
              <a:avLst/>
              <a:gdLst/>
              <a:ahLst/>
              <a:cxnLst/>
              <a:rect r="r" b="b" t="t" l="l"/>
              <a:pathLst>
                <a:path h="770049" w="1966556">
                  <a:moveTo>
                    <a:pt x="52879" y="0"/>
                  </a:moveTo>
                  <a:lnTo>
                    <a:pt x="1913677" y="0"/>
                  </a:lnTo>
                  <a:cubicBezTo>
                    <a:pt x="1942881" y="0"/>
                    <a:pt x="1966556" y="23675"/>
                    <a:pt x="1966556" y="52879"/>
                  </a:cubicBezTo>
                  <a:lnTo>
                    <a:pt x="1966556" y="717169"/>
                  </a:lnTo>
                  <a:cubicBezTo>
                    <a:pt x="1966556" y="746374"/>
                    <a:pt x="1942881" y="770049"/>
                    <a:pt x="1913677" y="770049"/>
                  </a:cubicBezTo>
                  <a:lnTo>
                    <a:pt x="52879" y="770049"/>
                  </a:lnTo>
                  <a:cubicBezTo>
                    <a:pt x="23675" y="770049"/>
                    <a:pt x="0" y="746374"/>
                    <a:pt x="0" y="717169"/>
                  </a:cubicBezTo>
                  <a:lnTo>
                    <a:pt x="0" y="52879"/>
                  </a:lnTo>
                  <a:cubicBezTo>
                    <a:pt x="0" y="23675"/>
                    <a:pt x="23675" y="0"/>
                    <a:pt x="52879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66556" cy="817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199"/>
                </a:lnSpc>
              </a:pPr>
              <a:r>
                <a:rPr lang="en-US" sz="2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Loading &amp; EDA</a:t>
              </a: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25,000 records, 36 columns. No missing values. Churned: 41.43% customers (10357) &amp; Retained: 58.57% (14643).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1729" y="4449587"/>
            <a:ext cx="7466767" cy="2751061"/>
            <a:chOff x="0" y="0"/>
            <a:chExt cx="1966556" cy="724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6556" cy="724559"/>
            </a:xfrm>
            <a:custGeom>
              <a:avLst/>
              <a:gdLst/>
              <a:ahLst/>
              <a:cxnLst/>
              <a:rect r="r" b="b" t="t" l="l"/>
              <a:pathLst>
                <a:path h="724559" w="1966556">
                  <a:moveTo>
                    <a:pt x="52879" y="0"/>
                  </a:moveTo>
                  <a:lnTo>
                    <a:pt x="1913677" y="0"/>
                  </a:lnTo>
                  <a:cubicBezTo>
                    <a:pt x="1942881" y="0"/>
                    <a:pt x="1966556" y="23675"/>
                    <a:pt x="1966556" y="52879"/>
                  </a:cubicBezTo>
                  <a:lnTo>
                    <a:pt x="1966556" y="671680"/>
                  </a:lnTo>
                  <a:cubicBezTo>
                    <a:pt x="1966556" y="700884"/>
                    <a:pt x="1942881" y="724559"/>
                    <a:pt x="1913677" y="724559"/>
                  </a:cubicBezTo>
                  <a:lnTo>
                    <a:pt x="52879" y="724559"/>
                  </a:lnTo>
                  <a:cubicBezTo>
                    <a:pt x="23675" y="724559"/>
                    <a:pt x="0" y="700884"/>
                    <a:pt x="0" y="671680"/>
                  </a:cubicBezTo>
                  <a:lnTo>
                    <a:pt x="0" y="52879"/>
                  </a:lnTo>
                  <a:cubicBezTo>
                    <a:pt x="0" y="23675"/>
                    <a:pt x="23675" y="0"/>
                    <a:pt x="52879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66556" cy="772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199"/>
                </a:lnSpc>
              </a:pPr>
              <a:r>
                <a:rPr lang="en-US" sz="2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Feature Engineering</a:t>
              </a: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 business driven features created, arpu &amp; tenure months dropped from model. arpu due to multicollinearity and tenure converted into derived feature.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1729" y="7527850"/>
            <a:ext cx="7466767" cy="2558557"/>
            <a:chOff x="0" y="0"/>
            <a:chExt cx="1966556" cy="673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6556" cy="673859"/>
            </a:xfrm>
            <a:custGeom>
              <a:avLst/>
              <a:gdLst/>
              <a:ahLst/>
              <a:cxnLst/>
              <a:rect r="r" b="b" t="t" l="l"/>
              <a:pathLst>
                <a:path h="673859" w="1966556">
                  <a:moveTo>
                    <a:pt x="52879" y="0"/>
                  </a:moveTo>
                  <a:lnTo>
                    <a:pt x="1913677" y="0"/>
                  </a:lnTo>
                  <a:cubicBezTo>
                    <a:pt x="1942881" y="0"/>
                    <a:pt x="1966556" y="23675"/>
                    <a:pt x="1966556" y="52879"/>
                  </a:cubicBezTo>
                  <a:lnTo>
                    <a:pt x="1966556" y="620979"/>
                  </a:lnTo>
                  <a:cubicBezTo>
                    <a:pt x="1966556" y="650184"/>
                    <a:pt x="1942881" y="673859"/>
                    <a:pt x="1913677" y="673859"/>
                  </a:cubicBezTo>
                  <a:lnTo>
                    <a:pt x="52879" y="673859"/>
                  </a:lnTo>
                  <a:cubicBezTo>
                    <a:pt x="23675" y="673859"/>
                    <a:pt x="0" y="650184"/>
                    <a:pt x="0" y="620979"/>
                  </a:cubicBezTo>
                  <a:lnTo>
                    <a:pt x="0" y="52879"/>
                  </a:lnTo>
                  <a:cubicBezTo>
                    <a:pt x="0" y="23675"/>
                    <a:pt x="23675" y="0"/>
                    <a:pt x="52879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966556" cy="72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199"/>
                </a:lnSpc>
              </a:pPr>
              <a:r>
                <a:rPr lang="en-US" sz="2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Train-Test Split</a:t>
              </a: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80/20 stratified split.</a:t>
              </a:r>
            </a:p>
            <a:p>
              <a:pPr algn="just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Train: 20,000 | Test: 5000</a:t>
              </a:r>
            </a:p>
            <a:p>
              <a:pPr algn="just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stratify=y ensures data balance preserved.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42946" y="1191021"/>
            <a:ext cx="7466767" cy="2864321"/>
            <a:chOff x="0" y="0"/>
            <a:chExt cx="1966556" cy="7543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6556" cy="754389"/>
            </a:xfrm>
            <a:custGeom>
              <a:avLst/>
              <a:gdLst/>
              <a:ahLst/>
              <a:cxnLst/>
              <a:rect r="r" b="b" t="t" l="l"/>
              <a:pathLst>
                <a:path h="754389" w="1966556">
                  <a:moveTo>
                    <a:pt x="52879" y="0"/>
                  </a:moveTo>
                  <a:lnTo>
                    <a:pt x="1913677" y="0"/>
                  </a:lnTo>
                  <a:cubicBezTo>
                    <a:pt x="1942881" y="0"/>
                    <a:pt x="1966556" y="23675"/>
                    <a:pt x="1966556" y="52879"/>
                  </a:cubicBezTo>
                  <a:lnTo>
                    <a:pt x="1966556" y="701510"/>
                  </a:lnTo>
                  <a:cubicBezTo>
                    <a:pt x="1966556" y="730714"/>
                    <a:pt x="1942881" y="754389"/>
                    <a:pt x="1913677" y="754389"/>
                  </a:cubicBezTo>
                  <a:lnTo>
                    <a:pt x="52879" y="754389"/>
                  </a:lnTo>
                  <a:cubicBezTo>
                    <a:pt x="23675" y="754389"/>
                    <a:pt x="0" y="730714"/>
                    <a:pt x="0" y="701510"/>
                  </a:cubicBezTo>
                  <a:lnTo>
                    <a:pt x="0" y="52879"/>
                  </a:lnTo>
                  <a:cubicBezTo>
                    <a:pt x="0" y="23675"/>
                    <a:pt x="23675" y="0"/>
                    <a:pt x="52879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66556" cy="802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199"/>
                </a:lnSpc>
              </a:pPr>
              <a:r>
                <a:rPr lang="en-US" sz="2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Encoding &amp; Scaling</a:t>
              </a: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OneHotEncoder for 7 categorical features.</a:t>
              </a:r>
            </a:p>
            <a:p>
              <a:pPr algn="just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Robust scaler for numerics (outlier-resistant).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542946" y="7446690"/>
            <a:ext cx="7466767" cy="2639717"/>
            <a:chOff x="0" y="0"/>
            <a:chExt cx="1966556" cy="6952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66556" cy="695234"/>
            </a:xfrm>
            <a:custGeom>
              <a:avLst/>
              <a:gdLst/>
              <a:ahLst/>
              <a:cxnLst/>
              <a:rect r="r" b="b" t="t" l="l"/>
              <a:pathLst>
                <a:path h="695234" w="1966556">
                  <a:moveTo>
                    <a:pt x="52879" y="0"/>
                  </a:moveTo>
                  <a:lnTo>
                    <a:pt x="1913677" y="0"/>
                  </a:lnTo>
                  <a:cubicBezTo>
                    <a:pt x="1942881" y="0"/>
                    <a:pt x="1966556" y="23675"/>
                    <a:pt x="1966556" y="52879"/>
                  </a:cubicBezTo>
                  <a:lnTo>
                    <a:pt x="1966556" y="642355"/>
                  </a:lnTo>
                  <a:cubicBezTo>
                    <a:pt x="1966556" y="671559"/>
                    <a:pt x="1942881" y="695234"/>
                    <a:pt x="1913677" y="695234"/>
                  </a:cubicBezTo>
                  <a:lnTo>
                    <a:pt x="52879" y="695234"/>
                  </a:lnTo>
                  <a:cubicBezTo>
                    <a:pt x="23675" y="695234"/>
                    <a:pt x="0" y="671559"/>
                    <a:pt x="0" y="642355"/>
                  </a:cubicBezTo>
                  <a:lnTo>
                    <a:pt x="0" y="52879"/>
                  </a:lnTo>
                  <a:cubicBezTo>
                    <a:pt x="0" y="23675"/>
                    <a:pt x="23675" y="0"/>
                    <a:pt x="52879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66556" cy="74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199"/>
                </a:lnSpc>
              </a:pPr>
              <a:r>
                <a:rPr lang="en-US" sz="2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Threshold Tuning</a:t>
              </a: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Precision-Recall curve used</a:t>
              </a:r>
            </a:p>
            <a:p>
              <a:pPr algn="just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Best Threshold 0.4154 → not recommended for deployment (too many false positives).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542946" y="4388717"/>
            <a:ext cx="7466767" cy="2802038"/>
            <a:chOff x="0" y="0"/>
            <a:chExt cx="1966556" cy="7379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66556" cy="737985"/>
            </a:xfrm>
            <a:custGeom>
              <a:avLst/>
              <a:gdLst/>
              <a:ahLst/>
              <a:cxnLst/>
              <a:rect r="r" b="b" t="t" l="l"/>
              <a:pathLst>
                <a:path h="737985" w="1966556">
                  <a:moveTo>
                    <a:pt x="52879" y="0"/>
                  </a:moveTo>
                  <a:lnTo>
                    <a:pt x="1913677" y="0"/>
                  </a:lnTo>
                  <a:cubicBezTo>
                    <a:pt x="1942881" y="0"/>
                    <a:pt x="1966556" y="23675"/>
                    <a:pt x="1966556" y="52879"/>
                  </a:cubicBezTo>
                  <a:lnTo>
                    <a:pt x="1966556" y="685106"/>
                  </a:lnTo>
                  <a:cubicBezTo>
                    <a:pt x="1966556" y="714310"/>
                    <a:pt x="1942881" y="737985"/>
                    <a:pt x="1913677" y="737985"/>
                  </a:cubicBezTo>
                  <a:lnTo>
                    <a:pt x="52879" y="737985"/>
                  </a:lnTo>
                  <a:cubicBezTo>
                    <a:pt x="23675" y="737985"/>
                    <a:pt x="0" y="714310"/>
                    <a:pt x="0" y="685106"/>
                  </a:cubicBezTo>
                  <a:lnTo>
                    <a:pt x="0" y="52879"/>
                  </a:lnTo>
                  <a:cubicBezTo>
                    <a:pt x="0" y="23675"/>
                    <a:pt x="23675" y="0"/>
                    <a:pt x="52879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66556" cy="785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199"/>
                </a:lnSpc>
              </a:pPr>
              <a:r>
                <a:rPr lang="en-US" sz="2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 Training (5 Models)</a:t>
              </a:r>
            </a:p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GridSearchCV + 5-Fold Stratified cross-validation</a:t>
              </a:r>
            </a:p>
            <a:p>
              <a:pPr algn="just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Optimization metric: Recall (churn class).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3191" y="1191021"/>
            <a:ext cx="1158538" cy="2923779"/>
            <a:chOff x="0" y="0"/>
            <a:chExt cx="305129" cy="7700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5129" cy="770049"/>
            </a:xfrm>
            <a:custGeom>
              <a:avLst/>
              <a:gdLst/>
              <a:ahLst/>
              <a:cxnLst/>
              <a:rect r="r" b="b" t="t" l="l"/>
              <a:pathLst>
                <a:path h="770049" w="305129">
                  <a:moveTo>
                    <a:pt x="152565" y="0"/>
                  </a:moveTo>
                  <a:lnTo>
                    <a:pt x="152565" y="0"/>
                  </a:lnTo>
                  <a:cubicBezTo>
                    <a:pt x="236824" y="0"/>
                    <a:pt x="305129" y="68306"/>
                    <a:pt x="305129" y="152565"/>
                  </a:cubicBezTo>
                  <a:lnTo>
                    <a:pt x="305129" y="617484"/>
                  </a:lnTo>
                  <a:cubicBezTo>
                    <a:pt x="305129" y="657947"/>
                    <a:pt x="289056" y="696752"/>
                    <a:pt x="260444" y="725364"/>
                  </a:cubicBezTo>
                  <a:cubicBezTo>
                    <a:pt x="231833" y="753975"/>
                    <a:pt x="193027" y="770049"/>
                    <a:pt x="152565" y="770049"/>
                  </a:cubicBezTo>
                  <a:lnTo>
                    <a:pt x="152565" y="770049"/>
                  </a:lnTo>
                  <a:cubicBezTo>
                    <a:pt x="112102" y="770049"/>
                    <a:pt x="73297" y="753975"/>
                    <a:pt x="44685" y="725364"/>
                  </a:cubicBezTo>
                  <a:cubicBezTo>
                    <a:pt x="16074" y="696752"/>
                    <a:pt x="0" y="657947"/>
                    <a:pt x="0" y="617484"/>
                  </a:cubicBezTo>
                  <a:lnTo>
                    <a:pt x="0" y="152565"/>
                  </a:lnTo>
                  <a:cubicBezTo>
                    <a:pt x="0" y="112102"/>
                    <a:pt x="16074" y="73297"/>
                    <a:pt x="44685" y="44685"/>
                  </a:cubicBezTo>
                  <a:cubicBezTo>
                    <a:pt x="73297" y="16074"/>
                    <a:pt x="112102" y="0"/>
                    <a:pt x="152565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05129" cy="817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3191" y="4449587"/>
            <a:ext cx="1158538" cy="2741168"/>
            <a:chOff x="0" y="0"/>
            <a:chExt cx="305129" cy="7219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5129" cy="721954"/>
            </a:xfrm>
            <a:custGeom>
              <a:avLst/>
              <a:gdLst/>
              <a:ahLst/>
              <a:cxnLst/>
              <a:rect r="r" b="b" t="t" l="l"/>
              <a:pathLst>
                <a:path h="721954" w="305129">
                  <a:moveTo>
                    <a:pt x="152565" y="0"/>
                  </a:moveTo>
                  <a:lnTo>
                    <a:pt x="152565" y="0"/>
                  </a:lnTo>
                  <a:cubicBezTo>
                    <a:pt x="236824" y="0"/>
                    <a:pt x="305129" y="68306"/>
                    <a:pt x="305129" y="152565"/>
                  </a:cubicBezTo>
                  <a:lnTo>
                    <a:pt x="305129" y="569389"/>
                  </a:lnTo>
                  <a:cubicBezTo>
                    <a:pt x="305129" y="609852"/>
                    <a:pt x="289056" y="648657"/>
                    <a:pt x="260444" y="677268"/>
                  </a:cubicBezTo>
                  <a:cubicBezTo>
                    <a:pt x="231833" y="705880"/>
                    <a:pt x="193027" y="721954"/>
                    <a:pt x="152565" y="721954"/>
                  </a:cubicBezTo>
                  <a:lnTo>
                    <a:pt x="152565" y="721954"/>
                  </a:lnTo>
                  <a:cubicBezTo>
                    <a:pt x="68306" y="721954"/>
                    <a:pt x="0" y="653648"/>
                    <a:pt x="0" y="569389"/>
                  </a:cubicBezTo>
                  <a:lnTo>
                    <a:pt x="0" y="152565"/>
                  </a:lnTo>
                  <a:cubicBezTo>
                    <a:pt x="0" y="112102"/>
                    <a:pt x="16074" y="73297"/>
                    <a:pt x="44685" y="44685"/>
                  </a:cubicBezTo>
                  <a:cubicBezTo>
                    <a:pt x="73297" y="16074"/>
                    <a:pt x="112102" y="0"/>
                    <a:pt x="152565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305129" cy="769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23191" y="7527850"/>
            <a:ext cx="1158538" cy="2558557"/>
            <a:chOff x="0" y="0"/>
            <a:chExt cx="305129" cy="6738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5129" cy="673859"/>
            </a:xfrm>
            <a:custGeom>
              <a:avLst/>
              <a:gdLst/>
              <a:ahLst/>
              <a:cxnLst/>
              <a:rect r="r" b="b" t="t" l="l"/>
              <a:pathLst>
                <a:path h="673859" w="305129">
                  <a:moveTo>
                    <a:pt x="152565" y="0"/>
                  </a:moveTo>
                  <a:lnTo>
                    <a:pt x="152565" y="0"/>
                  </a:lnTo>
                  <a:cubicBezTo>
                    <a:pt x="236824" y="0"/>
                    <a:pt x="305129" y="68306"/>
                    <a:pt x="305129" y="152565"/>
                  </a:cubicBezTo>
                  <a:lnTo>
                    <a:pt x="305129" y="521294"/>
                  </a:lnTo>
                  <a:cubicBezTo>
                    <a:pt x="305129" y="561757"/>
                    <a:pt x="289056" y="600562"/>
                    <a:pt x="260444" y="629173"/>
                  </a:cubicBezTo>
                  <a:cubicBezTo>
                    <a:pt x="231833" y="657785"/>
                    <a:pt x="193027" y="673859"/>
                    <a:pt x="152565" y="673859"/>
                  </a:cubicBezTo>
                  <a:lnTo>
                    <a:pt x="152565" y="673859"/>
                  </a:lnTo>
                  <a:cubicBezTo>
                    <a:pt x="112102" y="673859"/>
                    <a:pt x="73297" y="657785"/>
                    <a:pt x="44685" y="629173"/>
                  </a:cubicBezTo>
                  <a:cubicBezTo>
                    <a:pt x="16074" y="600562"/>
                    <a:pt x="0" y="561757"/>
                    <a:pt x="0" y="521294"/>
                  </a:cubicBezTo>
                  <a:lnTo>
                    <a:pt x="0" y="152565"/>
                  </a:lnTo>
                  <a:cubicBezTo>
                    <a:pt x="0" y="112102"/>
                    <a:pt x="16074" y="73297"/>
                    <a:pt x="44685" y="44685"/>
                  </a:cubicBezTo>
                  <a:cubicBezTo>
                    <a:pt x="73297" y="16074"/>
                    <a:pt x="112102" y="0"/>
                    <a:pt x="152565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05129" cy="72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84408" y="1207763"/>
            <a:ext cx="1158538" cy="2923779"/>
            <a:chOff x="0" y="0"/>
            <a:chExt cx="305129" cy="77004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5129" cy="770049"/>
            </a:xfrm>
            <a:custGeom>
              <a:avLst/>
              <a:gdLst/>
              <a:ahLst/>
              <a:cxnLst/>
              <a:rect r="r" b="b" t="t" l="l"/>
              <a:pathLst>
                <a:path h="770049" w="305129">
                  <a:moveTo>
                    <a:pt x="152565" y="0"/>
                  </a:moveTo>
                  <a:lnTo>
                    <a:pt x="152565" y="0"/>
                  </a:lnTo>
                  <a:cubicBezTo>
                    <a:pt x="236824" y="0"/>
                    <a:pt x="305129" y="68306"/>
                    <a:pt x="305129" y="152565"/>
                  </a:cubicBezTo>
                  <a:lnTo>
                    <a:pt x="305129" y="617484"/>
                  </a:lnTo>
                  <a:cubicBezTo>
                    <a:pt x="305129" y="657947"/>
                    <a:pt x="289056" y="696752"/>
                    <a:pt x="260444" y="725364"/>
                  </a:cubicBezTo>
                  <a:cubicBezTo>
                    <a:pt x="231833" y="753975"/>
                    <a:pt x="193027" y="770049"/>
                    <a:pt x="152565" y="770049"/>
                  </a:cubicBezTo>
                  <a:lnTo>
                    <a:pt x="152565" y="770049"/>
                  </a:lnTo>
                  <a:cubicBezTo>
                    <a:pt x="112102" y="770049"/>
                    <a:pt x="73297" y="753975"/>
                    <a:pt x="44685" y="725364"/>
                  </a:cubicBezTo>
                  <a:cubicBezTo>
                    <a:pt x="16074" y="696752"/>
                    <a:pt x="0" y="657947"/>
                    <a:pt x="0" y="617484"/>
                  </a:cubicBezTo>
                  <a:lnTo>
                    <a:pt x="0" y="152565"/>
                  </a:lnTo>
                  <a:cubicBezTo>
                    <a:pt x="0" y="112102"/>
                    <a:pt x="16074" y="73297"/>
                    <a:pt x="44685" y="44685"/>
                  </a:cubicBezTo>
                  <a:cubicBezTo>
                    <a:pt x="73297" y="16074"/>
                    <a:pt x="112102" y="0"/>
                    <a:pt x="152565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05129" cy="817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84408" y="4388717"/>
            <a:ext cx="1158538" cy="2802038"/>
            <a:chOff x="0" y="0"/>
            <a:chExt cx="305129" cy="73798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5129" cy="737985"/>
            </a:xfrm>
            <a:custGeom>
              <a:avLst/>
              <a:gdLst/>
              <a:ahLst/>
              <a:cxnLst/>
              <a:rect r="r" b="b" t="t" l="l"/>
              <a:pathLst>
                <a:path h="737985" w="305129">
                  <a:moveTo>
                    <a:pt x="152565" y="0"/>
                  </a:moveTo>
                  <a:lnTo>
                    <a:pt x="152565" y="0"/>
                  </a:lnTo>
                  <a:cubicBezTo>
                    <a:pt x="236824" y="0"/>
                    <a:pt x="305129" y="68306"/>
                    <a:pt x="305129" y="152565"/>
                  </a:cubicBezTo>
                  <a:lnTo>
                    <a:pt x="305129" y="585421"/>
                  </a:lnTo>
                  <a:cubicBezTo>
                    <a:pt x="305129" y="625883"/>
                    <a:pt x="289056" y="664689"/>
                    <a:pt x="260444" y="693300"/>
                  </a:cubicBezTo>
                  <a:cubicBezTo>
                    <a:pt x="231833" y="721912"/>
                    <a:pt x="193027" y="737985"/>
                    <a:pt x="152565" y="737985"/>
                  </a:cubicBezTo>
                  <a:lnTo>
                    <a:pt x="152565" y="737985"/>
                  </a:lnTo>
                  <a:cubicBezTo>
                    <a:pt x="112102" y="737985"/>
                    <a:pt x="73297" y="721912"/>
                    <a:pt x="44685" y="693300"/>
                  </a:cubicBezTo>
                  <a:cubicBezTo>
                    <a:pt x="16074" y="664689"/>
                    <a:pt x="0" y="625883"/>
                    <a:pt x="0" y="585421"/>
                  </a:cubicBezTo>
                  <a:lnTo>
                    <a:pt x="0" y="152565"/>
                  </a:lnTo>
                  <a:cubicBezTo>
                    <a:pt x="0" y="112102"/>
                    <a:pt x="16074" y="73297"/>
                    <a:pt x="44685" y="44685"/>
                  </a:cubicBezTo>
                  <a:cubicBezTo>
                    <a:pt x="73297" y="16074"/>
                    <a:pt x="112102" y="0"/>
                    <a:pt x="152565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305129" cy="795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84408" y="7527850"/>
            <a:ext cx="1158538" cy="2558557"/>
            <a:chOff x="0" y="0"/>
            <a:chExt cx="305129" cy="6738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5129" cy="673859"/>
            </a:xfrm>
            <a:custGeom>
              <a:avLst/>
              <a:gdLst/>
              <a:ahLst/>
              <a:cxnLst/>
              <a:rect r="r" b="b" t="t" l="l"/>
              <a:pathLst>
                <a:path h="673859" w="305129">
                  <a:moveTo>
                    <a:pt x="152565" y="0"/>
                  </a:moveTo>
                  <a:lnTo>
                    <a:pt x="152565" y="0"/>
                  </a:lnTo>
                  <a:cubicBezTo>
                    <a:pt x="236824" y="0"/>
                    <a:pt x="305129" y="68306"/>
                    <a:pt x="305129" y="152565"/>
                  </a:cubicBezTo>
                  <a:lnTo>
                    <a:pt x="305129" y="521294"/>
                  </a:lnTo>
                  <a:cubicBezTo>
                    <a:pt x="305129" y="561757"/>
                    <a:pt x="289056" y="600562"/>
                    <a:pt x="260444" y="629173"/>
                  </a:cubicBezTo>
                  <a:cubicBezTo>
                    <a:pt x="231833" y="657785"/>
                    <a:pt x="193027" y="673859"/>
                    <a:pt x="152565" y="673859"/>
                  </a:cubicBezTo>
                  <a:lnTo>
                    <a:pt x="152565" y="673859"/>
                  </a:lnTo>
                  <a:cubicBezTo>
                    <a:pt x="112102" y="673859"/>
                    <a:pt x="73297" y="657785"/>
                    <a:pt x="44685" y="629173"/>
                  </a:cubicBezTo>
                  <a:cubicBezTo>
                    <a:pt x="16074" y="600562"/>
                    <a:pt x="0" y="561757"/>
                    <a:pt x="0" y="521294"/>
                  </a:cubicBezTo>
                  <a:lnTo>
                    <a:pt x="0" y="152565"/>
                  </a:lnTo>
                  <a:cubicBezTo>
                    <a:pt x="0" y="112102"/>
                    <a:pt x="16074" y="73297"/>
                    <a:pt x="44685" y="44685"/>
                  </a:cubicBezTo>
                  <a:cubicBezTo>
                    <a:pt x="73297" y="16074"/>
                    <a:pt x="112102" y="0"/>
                    <a:pt x="152565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305129" cy="72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39452"/>
            <a:chOff x="0" y="0"/>
            <a:chExt cx="4816593" cy="2474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7428"/>
            </a:xfrm>
            <a:custGeom>
              <a:avLst/>
              <a:gdLst/>
              <a:ahLst/>
              <a:cxnLst/>
              <a:rect r="r" b="b" t="t" l="l"/>
              <a:pathLst>
                <a:path h="247428" w="4816592">
                  <a:moveTo>
                    <a:pt x="21167" y="0"/>
                  </a:moveTo>
                  <a:lnTo>
                    <a:pt x="4795426" y="0"/>
                  </a:lnTo>
                  <a:cubicBezTo>
                    <a:pt x="4801040" y="0"/>
                    <a:pt x="4806423" y="2230"/>
                    <a:pt x="4810393" y="6200"/>
                  </a:cubicBezTo>
                  <a:cubicBezTo>
                    <a:pt x="4814362" y="10169"/>
                    <a:pt x="4816592" y="15553"/>
                    <a:pt x="4816592" y="21167"/>
                  </a:cubicBezTo>
                  <a:lnTo>
                    <a:pt x="4816592" y="226261"/>
                  </a:lnTo>
                  <a:cubicBezTo>
                    <a:pt x="4816592" y="237951"/>
                    <a:pt x="4807116" y="247428"/>
                    <a:pt x="4795426" y="247428"/>
                  </a:cubicBezTo>
                  <a:lnTo>
                    <a:pt x="21167" y="247428"/>
                  </a:lnTo>
                  <a:cubicBezTo>
                    <a:pt x="9477" y="247428"/>
                    <a:pt x="0" y="237951"/>
                    <a:pt x="0" y="226261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11676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323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63588" indent="-431794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Feature Engineering - 9 Business driven Features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9444" y="1015783"/>
            <a:ext cx="17849112" cy="634122"/>
            <a:chOff x="0" y="0"/>
            <a:chExt cx="4701001" cy="1670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01001" cy="167012"/>
            </a:xfrm>
            <a:custGeom>
              <a:avLst/>
              <a:gdLst/>
              <a:ahLst/>
              <a:cxnLst/>
              <a:rect r="r" b="b" t="t" l="l"/>
              <a:pathLst>
                <a:path h="167012" w="4701001">
                  <a:moveTo>
                    <a:pt x="0" y="0"/>
                  </a:moveTo>
                  <a:lnTo>
                    <a:pt x="4701001" y="0"/>
                  </a:lnTo>
                  <a:lnTo>
                    <a:pt x="4701001" y="167012"/>
                  </a:lnTo>
                  <a:lnTo>
                    <a:pt x="0" y="167012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701001" cy="195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9 new features were engineered to capture hidden behavioral patterns that raw data cannot express directly.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19444" y="1649905"/>
          <a:ext cx="17849112" cy="8087587"/>
        </p:xfrm>
        <a:graphic>
          <a:graphicData uri="http://schemas.openxmlformats.org/drawingml/2006/table">
            <a:tbl>
              <a:tblPr/>
              <a:tblGrid>
                <a:gridCol w="5505232"/>
                <a:gridCol w="7809613"/>
                <a:gridCol w="4534266"/>
              </a:tblGrid>
              <a:tr h="6324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Feature Name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Business Rationale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Insight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</a:tr>
              <a:tr h="667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high_data_consumption_flag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Top 25% data users. Heavy users are revenue critical.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Premium Retention Priority.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high_voice_usage_flag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Top 25% voice users.  Identifies heavy engagement segment.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Cross-sell opportunity.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low_usage_flag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Bottom 25% in BOTH data and voice usage. Low engagement.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Engagement campaign.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lifecycle_stage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New(&lt;= 12m) /  Early(13-24m) / Mature(25-60m) / Loyal(&gt;60m)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Lifecycle specific strategies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8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poor_complaint_handling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Recent complaints + resolution_time &gt; 2 days. Service failure + inefficiency.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Trigger urgent escalation.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8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new_customer_high_risk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tenure &lt;= 12 months &amp; plan type = prepaid.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New customer with prepaid plan indicates churn risk.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8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nps_category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Detractor (nps_score &lt; 0) / Passive (0 - 50) / Promoter(score &gt; 50)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Convert subjective feedback to structured churn predictor.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2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low_service_rating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Bottom 25% service rating.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Dissatisfaction and high-churn prob.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71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plan_fit_score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Inverse of the ratio of overage charges to monthly charges.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Low score - Customers frequently pays extra - poor-plan fit.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21167" y="0"/>
                  </a:moveTo>
                  <a:lnTo>
                    <a:pt x="4795426" y="0"/>
                  </a:lnTo>
                  <a:cubicBezTo>
                    <a:pt x="4801040" y="0"/>
                    <a:pt x="4806423" y="2230"/>
                    <a:pt x="4810393" y="6200"/>
                  </a:cubicBezTo>
                  <a:cubicBezTo>
                    <a:pt x="4814362" y="10169"/>
                    <a:pt x="4816592" y="15553"/>
                    <a:pt x="4816592" y="21167"/>
                  </a:cubicBezTo>
                  <a:lnTo>
                    <a:pt x="4816592" y="249767"/>
                  </a:lnTo>
                  <a:cubicBezTo>
                    <a:pt x="4816592" y="261457"/>
                    <a:pt x="4807116" y="270933"/>
                    <a:pt x="4795426" y="270933"/>
                  </a:cubicBezTo>
                  <a:lnTo>
                    <a:pt x="21167" y="270933"/>
                  </a:lnTo>
                  <a:cubicBezTo>
                    <a:pt x="9477" y="270933"/>
                    <a:pt x="0" y="261457"/>
                    <a:pt x="0" y="249767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11676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63588" indent="-431794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 Comparison - Performance Metrics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10797" y="745159"/>
            <a:ext cx="10872564" cy="5660724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89360" y="680875"/>
            <a:ext cx="10958168" cy="5732141"/>
          </a:xfrm>
          <a:prstGeom prst="rect">
            <a:avLst/>
          </a:prstGeom>
        </p:spPr>
      </p:pic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0" y="6118961"/>
          <a:ext cx="18268950" cy="3502639"/>
        </p:xfrm>
        <a:graphic>
          <a:graphicData uri="http://schemas.openxmlformats.org/drawingml/2006/table">
            <a:tbl>
              <a:tblPr/>
              <a:tblGrid>
                <a:gridCol w="5485551"/>
                <a:gridCol w="2276364"/>
                <a:gridCol w="2061617"/>
                <a:gridCol w="1817881"/>
                <a:gridCol w="1881759"/>
                <a:gridCol w="2386598"/>
                <a:gridCol w="2359180"/>
              </a:tblGrid>
              <a:tr h="579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Precision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Recall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F1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ROC-AUC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FN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FP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579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Baseline LR (with FE)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0.54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0.56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0.661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868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1042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6070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2E641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Tuned LR (with FE) (Selected)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DFDCDA">
                            <a:alpha val="100000"/>
                          </a:srgbClr>
                        </a:gs>
                        <a:gs pos="100000">
                          <a:srgbClr val="858176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2E641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0.53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DFDCDA">
                            <a:alpha val="100000"/>
                          </a:srgbClr>
                        </a:gs>
                        <a:gs pos="100000">
                          <a:srgbClr val="858176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2E641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0.61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DFDCDA">
                            <a:alpha val="100000"/>
                          </a:srgbClr>
                        </a:gs>
                        <a:gs pos="100000">
                          <a:srgbClr val="858176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2E641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0.57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DFDCDA">
                            <a:alpha val="100000"/>
                          </a:srgbClr>
                        </a:gs>
                        <a:gs pos="100000">
                          <a:srgbClr val="858176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2E641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0.659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DFDCDA">
                            <a:alpha val="100000"/>
                          </a:srgbClr>
                        </a:gs>
                        <a:gs pos="100000">
                          <a:srgbClr val="858176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2E641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809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DFDCDA">
                            <a:alpha val="100000"/>
                          </a:srgbClr>
                        </a:gs>
                        <a:gs pos="100000">
                          <a:srgbClr val="858176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2E6417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1124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DFDCDA">
                            <a:alpha val="100000"/>
                          </a:srgbClr>
                        </a:gs>
                        <a:gs pos="100000">
                          <a:srgbClr val="858176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</a:tr>
              <a:tr h="579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Forest (with FE)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0.52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0.56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0.54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0.637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912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1077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579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Forest (without FE)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0.64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0.56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0.639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754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1312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579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XG Boost (without FE)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0.52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0.55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0.655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873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1094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7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0" y="1026412"/>
            <a:ext cx="9164441" cy="523516"/>
            <a:chOff x="0" y="0"/>
            <a:chExt cx="2413680" cy="1378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3680" cy="137881"/>
            </a:xfrm>
            <a:custGeom>
              <a:avLst/>
              <a:gdLst/>
              <a:ahLst/>
              <a:cxnLst/>
              <a:rect r="r" b="b" t="t" l="l"/>
              <a:pathLst>
                <a:path h="137881" w="2413680">
                  <a:moveTo>
                    <a:pt x="0" y="0"/>
                  </a:moveTo>
                  <a:lnTo>
                    <a:pt x="2413680" y="0"/>
                  </a:lnTo>
                  <a:lnTo>
                    <a:pt x="2413680" y="137881"/>
                  </a:lnTo>
                  <a:lnTo>
                    <a:pt x="0" y="137881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13680" cy="185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Recall Vs Precision Comparison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64441" y="1041843"/>
            <a:ext cx="9104509" cy="523516"/>
            <a:chOff x="0" y="0"/>
            <a:chExt cx="2397895" cy="1378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97895" cy="137881"/>
            </a:xfrm>
            <a:custGeom>
              <a:avLst/>
              <a:gdLst/>
              <a:ahLst/>
              <a:cxnLst/>
              <a:rect r="r" b="b" t="t" l="l"/>
              <a:pathLst>
                <a:path h="137881" w="2397895">
                  <a:moveTo>
                    <a:pt x="0" y="0"/>
                  </a:moveTo>
                  <a:lnTo>
                    <a:pt x="2397895" y="0"/>
                  </a:lnTo>
                  <a:lnTo>
                    <a:pt x="2397895" y="137881"/>
                  </a:lnTo>
                  <a:lnTo>
                    <a:pt x="0" y="137881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397895" cy="185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FN vs FP Count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21167" y="0"/>
                  </a:moveTo>
                  <a:lnTo>
                    <a:pt x="4795426" y="0"/>
                  </a:lnTo>
                  <a:cubicBezTo>
                    <a:pt x="4801040" y="0"/>
                    <a:pt x="4806423" y="2230"/>
                    <a:pt x="4810393" y="6200"/>
                  </a:cubicBezTo>
                  <a:cubicBezTo>
                    <a:pt x="4814362" y="10169"/>
                    <a:pt x="4816592" y="15553"/>
                    <a:pt x="4816592" y="21167"/>
                  </a:cubicBezTo>
                  <a:lnTo>
                    <a:pt x="4816592" y="249767"/>
                  </a:lnTo>
                  <a:cubicBezTo>
                    <a:pt x="4816592" y="261457"/>
                    <a:pt x="4807116" y="270933"/>
                    <a:pt x="4795426" y="270933"/>
                  </a:cubicBezTo>
                  <a:lnTo>
                    <a:pt x="21167" y="270933"/>
                  </a:lnTo>
                  <a:cubicBezTo>
                    <a:pt x="9477" y="270933"/>
                    <a:pt x="0" y="261457"/>
                    <a:pt x="0" y="249767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11676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63588" indent="-431794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Final Model – Tuned Logistic Regression (with FE)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8700"/>
            <a:ext cx="18288000" cy="2328556"/>
            <a:chOff x="0" y="0"/>
            <a:chExt cx="4816593" cy="6132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13282"/>
            </a:xfrm>
            <a:custGeom>
              <a:avLst/>
              <a:gdLst/>
              <a:ahLst/>
              <a:cxnLst/>
              <a:rect r="r" b="b" t="t" l="l"/>
              <a:pathLst>
                <a:path h="61328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3282"/>
                  </a:lnTo>
                  <a:lnTo>
                    <a:pt x="0" y="613282"/>
                  </a:ln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660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1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🏆</a:t>
              </a:r>
              <a:r>
                <a:rPr lang="en-US" sz="2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SELECTED MODEL: Tuned Logistic Regression with Feature Engineering</a:t>
              </a:r>
            </a:p>
            <a:p>
              <a:pPr algn="just">
                <a:lnSpc>
                  <a:spcPts val="4199"/>
                </a:lnSpc>
              </a:pPr>
              <a:r>
                <a:rPr lang="en-US" sz="2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</a:t>
              </a:r>
            </a:p>
            <a:p>
              <a:pPr algn="just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</a:t>
              </a:r>
              <a:r>
                <a:rPr lang="en-US" sz="2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Best Params: C=0.01 | Penalty=l1 | solver=liblinear | class_weight=balanced | Best cv Recall=0.6288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357256"/>
            <a:ext cx="5094823" cy="1461602"/>
            <a:chOff x="0" y="0"/>
            <a:chExt cx="1341846" cy="3849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846" cy="384949"/>
            </a:xfrm>
            <a:custGeom>
              <a:avLst/>
              <a:gdLst/>
              <a:ahLst/>
              <a:cxnLst/>
              <a:rect r="r" b="b" t="t" l="l"/>
              <a:pathLst>
                <a:path h="384949" w="1341846">
                  <a:moveTo>
                    <a:pt x="77498" y="0"/>
                  </a:moveTo>
                  <a:lnTo>
                    <a:pt x="1264348" y="0"/>
                  </a:lnTo>
                  <a:cubicBezTo>
                    <a:pt x="1284902" y="0"/>
                    <a:pt x="1304614" y="8165"/>
                    <a:pt x="1319148" y="22699"/>
                  </a:cubicBezTo>
                  <a:cubicBezTo>
                    <a:pt x="1333681" y="37232"/>
                    <a:pt x="1341846" y="56944"/>
                    <a:pt x="1341846" y="77498"/>
                  </a:cubicBezTo>
                  <a:lnTo>
                    <a:pt x="1341846" y="307451"/>
                  </a:lnTo>
                  <a:cubicBezTo>
                    <a:pt x="1341846" y="328005"/>
                    <a:pt x="1333681" y="347716"/>
                    <a:pt x="1319148" y="362250"/>
                  </a:cubicBezTo>
                  <a:cubicBezTo>
                    <a:pt x="1304614" y="376784"/>
                    <a:pt x="1284902" y="384949"/>
                    <a:pt x="1264348" y="384949"/>
                  </a:cubicBezTo>
                  <a:lnTo>
                    <a:pt x="77498" y="384949"/>
                  </a:lnTo>
                  <a:cubicBezTo>
                    <a:pt x="56944" y="384949"/>
                    <a:pt x="37232" y="376784"/>
                    <a:pt x="22699" y="362250"/>
                  </a:cubicBezTo>
                  <a:cubicBezTo>
                    <a:pt x="8165" y="347716"/>
                    <a:pt x="0" y="328005"/>
                    <a:pt x="0" y="307451"/>
                  </a:cubicBezTo>
                  <a:lnTo>
                    <a:pt x="0" y="77498"/>
                  </a:lnTo>
                  <a:cubicBezTo>
                    <a:pt x="0" y="56944"/>
                    <a:pt x="8165" y="37232"/>
                    <a:pt x="22699" y="22699"/>
                  </a:cubicBezTo>
                  <a:cubicBezTo>
                    <a:pt x="37232" y="8165"/>
                    <a:pt x="56944" y="0"/>
                    <a:pt x="77498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341846" cy="451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 i="true">
                  <a:solidFill>
                    <a:srgbClr val="0A714E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0.61</a:t>
              </a:r>
            </a:p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Recall (Churn)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96589" y="3357256"/>
            <a:ext cx="5094823" cy="1461602"/>
            <a:chOff x="0" y="0"/>
            <a:chExt cx="1341846" cy="3849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846" cy="384949"/>
            </a:xfrm>
            <a:custGeom>
              <a:avLst/>
              <a:gdLst/>
              <a:ahLst/>
              <a:cxnLst/>
              <a:rect r="r" b="b" t="t" l="l"/>
              <a:pathLst>
                <a:path h="384949" w="1341846">
                  <a:moveTo>
                    <a:pt x="77498" y="0"/>
                  </a:moveTo>
                  <a:lnTo>
                    <a:pt x="1264348" y="0"/>
                  </a:lnTo>
                  <a:cubicBezTo>
                    <a:pt x="1284902" y="0"/>
                    <a:pt x="1304614" y="8165"/>
                    <a:pt x="1319148" y="22699"/>
                  </a:cubicBezTo>
                  <a:cubicBezTo>
                    <a:pt x="1333681" y="37232"/>
                    <a:pt x="1341846" y="56944"/>
                    <a:pt x="1341846" y="77498"/>
                  </a:cubicBezTo>
                  <a:lnTo>
                    <a:pt x="1341846" y="307451"/>
                  </a:lnTo>
                  <a:cubicBezTo>
                    <a:pt x="1341846" y="328005"/>
                    <a:pt x="1333681" y="347716"/>
                    <a:pt x="1319148" y="362250"/>
                  </a:cubicBezTo>
                  <a:cubicBezTo>
                    <a:pt x="1304614" y="376784"/>
                    <a:pt x="1284902" y="384949"/>
                    <a:pt x="1264348" y="384949"/>
                  </a:cubicBezTo>
                  <a:lnTo>
                    <a:pt x="77498" y="384949"/>
                  </a:lnTo>
                  <a:cubicBezTo>
                    <a:pt x="56944" y="384949"/>
                    <a:pt x="37232" y="376784"/>
                    <a:pt x="22699" y="362250"/>
                  </a:cubicBezTo>
                  <a:cubicBezTo>
                    <a:pt x="8165" y="347716"/>
                    <a:pt x="0" y="328005"/>
                    <a:pt x="0" y="307451"/>
                  </a:cubicBezTo>
                  <a:lnTo>
                    <a:pt x="0" y="77498"/>
                  </a:lnTo>
                  <a:cubicBezTo>
                    <a:pt x="0" y="56944"/>
                    <a:pt x="8165" y="37232"/>
                    <a:pt x="22699" y="22699"/>
                  </a:cubicBezTo>
                  <a:cubicBezTo>
                    <a:pt x="37232" y="8165"/>
                    <a:pt x="56944" y="0"/>
                    <a:pt x="77498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341846" cy="451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 i="true">
                  <a:solidFill>
                    <a:srgbClr val="2E6417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0.53</a:t>
              </a:r>
            </a:p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Precision (Churn)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64477" y="3357256"/>
            <a:ext cx="5094823" cy="1461602"/>
            <a:chOff x="0" y="0"/>
            <a:chExt cx="1341846" cy="3849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846" cy="384949"/>
            </a:xfrm>
            <a:custGeom>
              <a:avLst/>
              <a:gdLst/>
              <a:ahLst/>
              <a:cxnLst/>
              <a:rect r="r" b="b" t="t" l="l"/>
              <a:pathLst>
                <a:path h="384949" w="1341846">
                  <a:moveTo>
                    <a:pt x="77498" y="0"/>
                  </a:moveTo>
                  <a:lnTo>
                    <a:pt x="1264348" y="0"/>
                  </a:lnTo>
                  <a:cubicBezTo>
                    <a:pt x="1284902" y="0"/>
                    <a:pt x="1304614" y="8165"/>
                    <a:pt x="1319148" y="22699"/>
                  </a:cubicBezTo>
                  <a:cubicBezTo>
                    <a:pt x="1333681" y="37232"/>
                    <a:pt x="1341846" y="56944"/>
                    <a:pt x="1341846" y="77498"/>
                  </a:cubicBezTo>
                  <a:lnTo>
                    <a:pt x="1341846" y="307451"/>
                  </a:lnTo>
                  <a:cubicBezTo>
                    <a:pt x="1341846" y="328005"/>
                    <a:pt x="1333681" y="347716"/>
                    <a:pt x="1319148" y="362250"/>
                  </a:cubicBezTo>
                  <a:cubicBezTo>
                    <a:pt x="1304614" y="376784"/>
                    <a:pt x="1284902" y="384949"/>
                    <a:pt x="1264348" y="384949"/>
                  </a:cubicBezTo>
                  <a:lnTo>
                    <a:pt x="77498" y="384949"/>
                  </a:lnTo>
                  <a:cubicBezTo>
                    <a:pt x="56944" y="384949"/>
                    <a:pt x="37232" y="376784"/>
                    <a:pt x="22699" y="362250"/>
                  </a:cubicBezTo>
                  <a:cubicBezTo>
                    <a:pt x="8165" y="347716"/>
                    <a:pt x="0" y="328005"/>
                    <a:pt x="0" y="307451"/>
                  </a:cubicBezTo>
                  <a:lnTo>
                    <a:pt x="0" y="77498"/>
                  </a:lnTo>
                  <a:cubicBezTo>
                    <a:pt x="0" y="56944"/>
                    <a:pt x="8165" y="37232"/>
                    <a:pt x="22699" y="22699"/>
                  </a:cubicBezTo>
                  <a:cubicBezTo>
                    <a:pt x="37232" y="8165"/>
                    <a:pt x="56944" y="0"/>
                    <a:pt x="77498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41846" cy="451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 i="true">
                  <a:solidFill>
                    <a:srgbClr val="2E6417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0.57</a:t>
              </a:r>
            </a:p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F1 Score (Churn)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5143500"/>
            <a:ext cx="5094823" cy="1347533"/>
            <a:chOff x="0" y="0"/>
            <a:chExt cx="1341846" cy="3549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846" cy="354906"/>
            </a:xfrm>
            <a:custGeom>
              <a:avLst/>
              <a:gdLst/>
              <a:ahLst/>
              <a:cxnLst/>
              <a:rect r="r" b="b" t="t" l="l"/>
              <a:pathLst>
                <a:path h="354906" w="1341846">
                  <a:moveTo>
                    <a:pt x="77498" y="0"/>
                  </a:moveTo>
                  <a:lnTo>
                    <a:pt x="1264348" y="0"/>
                  </a:lnTo>
                  <a:cubicBezTo>
                    <a:pt x="1284902" y="0"/>
                    <a:pt x="1304614" y="8165"/>
                    <a:pt x="1319148" y="22699"/>
                  </a:cubicBezTo>
                  <a:cubicBezTo>
                    <a:pt x="1333681" y="37232"/>
                    <a:pt x="1341846" y="56944"/>
                    <a:pt x="1341846" y="77498"/>
                  </a:cubicBezTo>
                  <a:lnTo>
                    <a:pt x="1341846" y="277408"/>
                  </a:lnTo>
                  <a:cubicBezTo>
                    <a:pt x="1341846" y="297962"/>
                    <a:pt x="1333681" y="317673"/>
                    <a:pt x="1319148" y="332207"/>
                  </a:cubicBezTo>
                  <a:cubicBezTo>
                    <a:pt x="1304614" y="346741"/>
                    <a:pt x="1284902" y="354906"/>
                    <a:pt x="1264348" y="354906"/>
                  </a:cubicBezTo>
                  <a:lnTo>
                    <a:pt x="77498" y="354906"/>
                  </a:lnTo>
                  <a:cubicBezTo>
                    <a:pt x="34697" y="354906"/>
                    <a:pt x="0" y="320209"/>
                    <a:pt x="0" y="277408"/>
                  </a:cubicBezTo>
                  <a:lnTo>
                    <a:pt x="0" y="77498"/>
                  </a:lnTo>
                  <a:cubicBezTo>
                    <a:pt x="0" y="56944"/>
                    <a:pt x="8165" y="37232"/>
                    <a:pt x="22699" y="22699"/>
                  </a:cubicBezTo>
                  <a:cubicBezTo>
                    <a:pt x="37232" y="8165"/>
                    <a:pt x="56944" y="0"/>
                    <a:pt x="77498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341846" cy="421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 i="true">
                  <a:solidFill>
                    <a:srgbClr val="2E6417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0.6595</a:t>
              </a:r>
            </a:p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AUC ROC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67661" y="5143500"/>
            <a:ext cx="5094823" cy="1347533"/>
            <a:chOff x="0" y="0"/>
            <a:chExt cx="1341846" cy="3549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846" cy="354906"/>
            </a:xfrm>
            <a:custGeom>
              <a:avLst/>
              <a:gdLst/>
              <a:ahLst/>
              <a:cxnLst/>
              <a:rect r="r" b="b" t="t" l="l"/>
              <a:pathLst>
                <a:path h="354906" w="1341846">
                  <a:moveTo>
                    <a:pt x="77498" y="0"/>
                  </a:moveTo>
                  <a:lnTo>
                    <a:pt x="1264348" y="0"/>
                  </a:lnTo>
                  <a:cubicBezTo>
                    <a:pt x="1284902" y="0"/>
                    <a:pt x="1304614" y="8165"/>
                    <a:pt x="1319148" y="22699"/>
                  </a:cubicBezTo>
                  <a:cubicBezTo>
                    <a:pt x="1333681" y="37232"/>
                    <a:pt x="1341846" y="56944"/>
                    <a:pt x="1341846" y="77498"/>
                  </a:cubicBezTo>
                  <a:lnTo>
                    <a:pt x="1341846" y="277408"/>
                  </a:lnTo>
                  <a:cubicBezTo>
                    <a:pt x="1341846" y="297962"/>
                    <a:pt x="1333681" y="317673"/>
                    <a:pt x="1319148" y="332207"/>
                  </a:cubicBezTo>
                  <a:cubicBezTo>
                    <a:pt x="1304614" y="346741"/>
                    <a:pt x="1284902" y="354906"/>
                    <a:pt x="1264348" y="354906"/>
                  </a:cubicBezTo>
                  <a:lnTo>
                    <a:pt x="77498" y="354906"/>
                  </a:lnTo>
                  <a:cubicBezTo>
                    <a:pt x="34697" y="354906"/>
                    <a:pt x="0" y="320209"/>
                    <a:pt x="0" y="277408"/>
                  </a:cubicBezTo>
                  <a:lnTo>
                    <a:pt x="0" y="77498"/>
                  </a:lnTo>
                  <a:cubicBezTo>
                    <a:pt x="0" y="56944"/>
                    <a:pt x="8165" y="37232"/>
                    <a:pt x="22699" y="22699"/>
                  </a:cubicBezTo>
                  <a:cubicBezTo>
                    <a:pt x="37232" y="8165"/>
                    <a:pt x="56944" y="0"/>
                    <a:pt x="77498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341846" cy="421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 i="true">
                  <a:solidFill>
                    <a:srgbClr val="0A714E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1124</a:t>
              </a:r>
            </a:p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False Positives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96589" y="5143500"/>
            <a:ext cx="5094823" cy="1347533"/>
            <a:chOff x="0" y="0"/>
            <a:chExt cx="1341846" cy="3549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846" cy="354906"/>
            </a:xfrm>
            <a:custGeom>
              <a:avLst/>
              <a:gdLst/>
              <a:ahLst/>
              <a:cxnLst/>
              <a:rect r="r" b="b" t="t" l="l"/>
              <a:pathLst>
                <a:path h="354906" w="1341846">
                  <a:moveTo>
                    <a:pt x="77498" y="0"/>
                  </a:moveTo>
                  <a:lnTo>
                    <a:pt x="1264348" y="0"/>
                  </a:lnTo>
                  <a:cubicBezTo>
                    <a:pt x="1284902" y="0"/>
                    <a:pt x="1304614" y="8165"/>
                    <a:pt x="1319148" y="22699"/>
                  </a:cubicBezTo>
                  <a:cubicBezTo>
                    <a:pt x="1333681" y="37232"/>
                    <a:pt x="1341846" y="56944"/>
                    <a:pt x="1341846" y="77498"/>
                  </a:cubicBezTo>
                  <a:lnTo>
                    <a:pt x="1341846" y="277408"/>
                  </a:lnTo>
                  <a:cubicBezTo>
                    <a:pt x="1341846" y="297962"/>
                    <a:pt x="1333681" y="317673"/>
                    <a:pt x="1319148" y="332207"/>
                  </a:cubicBezTo>
                  <a:cubicBezTo>
                    <a:pt x="1304614" y="346741"/>
                    <a:pt x="1284902" y="354906"/>
                    <a:pt x="1264348" y="354906"/>
                  </a:cubicBezTo>
                  <a:lnTo>
                    <a:pt x="77498" y="354906"/>
                  </a:lnTo>
                  <a:cubicBezTo>
                    <a:pt x="34697" y="354906"/>
                    <a:pt x="0" y="320209"/>
                    <a:pt x="0" y="277408"/>
                  </a:cubicBezTo>
                  <a:lnTo>
                    <a:pt x="0" y="77498"/>
                  </a:lnTo>
                  <a:cubicBezTo>
                    <a:pt x="0" y="56944"/>
                    <a:pt x="8165" y="37232"/>
                    <a:pt x="22699" y="22699"/>
                  </a:cubicBezTo>
                  <a:cubicBezTo>
                    <a:pt x="37232" y="8165"/>
                    <a:pt x="56944" y="0"/>
                    <a:pt x="77498" y="0"/>
                  </a:cubicBezTo>
                  <a:close/>
                </a:path>
              </a:pathLst>
            </a:custGeom>
            <a:solidFill>
              <a:srgbClr val="A6A6A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341846" cy="421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 i="true">
                  <a:solidFill>
                    <a:srgbClr val="0A714E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809</a:t>
              </a:r>
            </a:p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False Negatives</a:t>
              </a:r>
            </a:p>
          </p:txBody>
        </p:sp>
      </p:grp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1019175" y="7352136"/>
          <a:ext cx="15967806" cy="2361346"/>
        </p:xfrm>
        <a:graphic>
          <a:graphicData uri="http://schemas.openxmlformats.org/drawingml/2006/table">
            <a:tbl>
              <a:tblPr/>
              <a:tblGrid>
                <a:gridCol w="2532965"/>
                <a:gridCol w="1802151"/>
                <a:gridCol w="1915543"/>
                <a:gridCol w="2281430"/>
                <a:gridCol w="2350701"/>
                <a:gridCol w="2552050"/>
                <a:gridCol w="2532965"/>
              </a:tblGrid>
              <a:tr h="578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Segment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Precision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Recall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Precision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Recall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</a:tr>
              <a:tr h="578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Low Value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LR (with FE)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0.53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0.74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RF (no FE)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0.49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0.83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5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Medium Value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LR (with FE)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0.54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0.52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RF (no FE)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0.53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0.48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8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High Value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LR (with FE)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0.46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0.17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RF (no FE)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0.02</a:t>
                      </a:r>
                      <a:endParaRPr lang="en-US" sz="1100"/>
                    </a:p>
                  </a:txBody>
                  <a:tcPr marL="85725" marR="85725" marT="85725" marB="857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7" id="27"/>
          <p:cNvGrpSpPr/>
          <p:nvPr/>
        </p:nvGrpSpPr>
        <p:grpSpPr>
          <a:xfrm rot="0">
            <a:off x="1019175" y="6814883"/>
            <a:ext cx="16230600" cy="537253"/>
            <a:chOff x="0" y="0"/>
            <a:chExt cx="4274726" cy="1414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74726" cy="141499"/>
            </a:xfrm>
            <a:custGeom>
              <a:avLst/>
              <a:gdLst/>
              <a:ahLst/>
              <a:cxnLst/>
              <a:rect r="r" b="b" t="t" l="l"/>
              <a:pathLst>
                <a:path h="14149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41499"/>
                  </a:lnTo>
                  <a:lnTo>
                    <a:pt x="0" y="141499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274726" cy="179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99"/>
                </a:lnSpc>
              </a:pPr>
              <a:r>
                <a:rPr lang="en-US" b="true" sz="1999" i="true">
                  <a:solidFill>
                    <a:srgbClr val="0A714E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Segment Wise Performance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21167" y="0"/>
                  </a:moveTo>
                  <a:lnTo>
                    <a:pt x="4795426" y="0"/>
                  </a:lnTo>
                  <a:cubicBezTo>
                    <a:pt x="4801040" y="0"/>
                    <a:pt x="4806423" y="2230"/>
                    <a:pt x="4810393" y="6200"/>
                  </a:cubicBezTo>
                  <a:cubicBezTo>
                    <a:pt x="4814362" y="10169"/>
                    <a:pt x="4816592" y="15553"/>
                    <a:pt x="4816592" y="21167"/>
                  </a:cubicBezTo>
                  <a:lnTo>
                    <a:pt x="4816592" y="249767"/>
                  </a:lnTo>
                  <a:cubicBezTo>
                    <a:pt x="4816592" y="261457"/>
                    <a:pt x="4807116" y="270933"/>
                    <a:pt x="4795426" y="270933"/>
                  </a:cubicBezTo>
                  <a:lnTo>
                    <a:pt x="21167" y="270933"/>
                  </a:lnTo>
                  <a:cubicBezTo>
                    <a:pt x="9477" y="270933"/>
                    <a:pt x="0" y="261457"/>
                    <a:pt x="0" y="249767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00687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63588" indent="-431794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Churn Drivers &amp; Threshold Tuning Analysis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6954" y="1166303"/>
            <a:ext cx="8747046" cy="894766"/>
            <a:chOff x="0" y="0"/>
            <a:chExt cx="2303749" cy="2356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3749" cy="235659"/>
            </a:xfrm>
            <a:custGeom>
              <a:avLst/>
              <a:gdLst/>
              <a:ahLst/>
              <a:cxnLst/>
              <a:rect r="r" b="b" t="t" l="l"/>
              <a:pathLst>
                <a:path h="235659" w="2303749">
                  <a:moveTo>
                    <a:pt x="44254" y="0"/>
                  </a:moveTo>
                  <a:lnTo>
                    <a:pt x="2259494" y="0"/>
                  </a:lnTo>
                  <a:cubicBezTo>
                    <a:pt x="2271231" y="0"/>
                    <a:pt x="2282488" y="4663"/>
                    <a:pt x="2290787" y="12962"/>
                  </a:cubicBezTo>
                  <a:cubicBezTo>
                    <a:pt x="2299086" y="21261"/>
                    <a:pt x="2303749" y="32517"/>
                    <a:pt x="2303749" y="44254"/>
                  </a:cubicBezTo>
                  <a:lnTo>
                    <a:pt x="2303749" y="191404"/>
                  </a:lnTo>
                  <a:cubicBezTo>
                    <a:pt x="2303749" y="203141"/>
                    <a:pt x="2299086" y="214397"/>
                    <a:pt x="2290787" y="222697"/>
                  </a:cubicBezTo>
                  <a:cubicBezTo>
                    <a:pt x="2282488" y="230996"/>
                    <a:pt x="2271231" y="235659"/>
                    <a:pt x="2259494" y="235659"/>
                  </a:cubicBezTo>
                  <a:lnTo>
                    <a:pt x="44254" y="235659"/>
                  </a:lnTo>
                  <a:cubicBezTo>
                    <a:pt x="32517" y="235659"/>
                    <a:pt x="21261" y="230996"/>
                    <a:pt x="12962" y="222697"/>
                  </a:cubicBezTo>
                  <a:cubicBezTo>
                    <a:pt x="4663" y="214397"/>
                    <a:pt x="0" y="203141"/>
                    <a:pt x="0" y="191404"/>
                  </a:cubicBezTo>
                  <a:lnTo>
                    <a:pt x="0" y="44254"/>
                  </a:lnTo>
                  <a:cubicBezTo>
                    <a:pt x="0" y="32517"/>
                    <a:pt x="4663" y="21261"/>
                    <a:pt x="12962" y="12962"/>
                  </a:cubicBezTo>
                  <a:cubicBezTo>
                    <a:pt x="21261" y="4663"/>
                    <a:pt x="32517" y="0"/>
                    <a:pt x="44254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03749" cy="273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Top Churn Drivers (LR Coefficient)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2676" y="1298239"/>
            <a:ext cx="10776521" cy="8828637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9144000" y="1166303"/>
            <a:ext cx="8859938" cy="894766"/>
            <a:chOff x="0" y="0"/>
            <a:chExt cx="2333482" cy="2356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3482" cy="235659"/>
            </a:xfrm>
            <a:custGeom>
              <a:avLst/>
              <a:gdLst/>
              <a:ahLst/>
              <a:cxnLst/>
              <a:rect r="r" b="b" t="t" l="l"/>
              <a:pathLst>
                <a:path h="235659" w="2333482">
                  <a:moveTo>
                    <a:pt x="43691" y="0"/>
                  </a:moveTo>
                  <a:lnTo>
                    <a:pt x="2289791" y="0"/>
                  </a:lnTo>
                  <a:cubicBezTo>
                    <a:pt x="2301379" y="0"/>
                    <a:pt x="2312491" y="4603"/>
                    <a:pt x="2320685" y="12797"/>
                  </a:cubicBezTo>
                  <a:cubicBezTo>
                    <a:pt x="2328879" y="20990"/>
                    <a:pt x="2333482" y="32103"/>
                    <a:pt x="2333482" y="43691"/>
                  </a:cubicBezTo>
                  <a:lnTo>
                    <a:pt x="2333482" y="191968"/>
                  </a:lnTo>
                  <a:cubicBezTo>
                    <a:pt x="2333482" y="216098"/>
                    <a:pt x="2313921" y="235659"/>
                    <a:pt x="2289791" y="235659"/>
                  </a:cubicBezTo>
                  <a:lnTo>
                    <a:pt x="43691" y="235659"/>
                  </a:lnTo>
                  <a:cubicBezTo>
                    <a:pt x="32103" y="235659"/>
                    <a:pt x="20990" y="231055"/>
                    <a:pt x="12797" y="222862"/>
                  </a:cubicBezTo>
                  <a:cubicBezTo>
                    <a:pt x="4603" y="214668"/>
                    <a:pt x="0" y="203555"/>
                    <a:pt x="0" y="191968"/>
                  </a:cubicBezTo>
                  <a:lnTo>
                    <a:pt x="0" y="43691"/>
                  </a:lnTo>
                  <a:cubicBezTo>
                    <a:pt x="0" y="32103"/>
                    <a:pt x="4603" y="20990"/>
                    <a:pt x="12797" y="12797"/>
                  </a:cubicBezTo>
                  <a:cubicBezTo>
                    <a:pt x="20990" y="4603"/>
                    <a:pt x="32103" y="0"/>
                    <a:pt x="43691" y="0"/>
                  </a:cubicBez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33482" cy="273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Top Retention Signals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9601872" y="2514600"/>
          <a:ext cx="8228256" cy="2628900"/>
        </p:xfrm>
        <a:graphic>
          <a:graphicData uri="http://schemas.openxmlformats.org/drawingml/2006/table">
            <a:tbl>
              <a:tblPr/>
              <a:tblGrid>
                <a:gridCol w="8228256"/>
              </a:tblGrid>
              <a:tr h="87630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 Service Rating &amp; NPS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Postpaid Plan Subscribers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Long Tenure (&gt; 24 Months) / High Total Charges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9601872" y="6117426"/>
            <a:ext cx="8228256" cy="3140874"/>
            <a:chOff x="0" y="0"/>
            <a:chExt cx="2167113" cy="8272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7113" cy="827226"/>
            </a:xfrm>
            <a:custGeom>
              <a:avLst/>
              <a:gdLst/>
              <a:ahLst/>
              <a:cxnLst/>
              <a:rect r="r" b="b" t="t" l="l"/>
              <a:pathLst>
                <a:path h="827226" w="2167113">
                  <a:moveTo>
                    <a:pt x="35754" y="0"/>
                  </a:moveTo>
                  <a:lnTo>
                    <a:pt x="2131359" y="0"/>
                  </a:lnTo>
                  <a:cubicBezTo>
                    <a:pt x="2140841" y="0"/>
                    <a:pt x="2149935" y="3767"/>
                    <a:pt x="2156641" y="10472"/>
                  </a:cubicBezTo>
                  <a:cubicBezTo>
                    <a:pt x="2163346" y="17177"/>
                    <a:pt x="2167113" y="26271"/>
                    <a:pt x="2167113" y="35754"/>
                  </a:cubicBezTo>
                  <a:lnTo>
                    <a:pt x="2167113" y="791472"/>
                  </a:lnTo>
                  <a:cubicBezTo>
                    <a:pt x="2167113" y="811218"/>
                    <a:pt x="2151105" y="827226"/>
                    <a:pt x="2131359" y="827226"/>
                  </a:cubicBezTo>
                  <a:lnTo>
                    <a:pt x="35754" y="827226"/>
                  </a:lnTo>
                  <a:cubicBezTo>
                    <a:pt x="16008" y="827226"/>
                    <a:pt x="0" y="811218"/>
                    <a:pt x="0" y="791472"/>
                  </a:cubicBezTo>
                  <a:lnTo>
                    <a:pt x="0" y="35754"/>
                  </a:lnTo>
                  <a:cubicBezTo>
                    <a:pt x="0" y="16008"/>
                    <a:pt x="16008" y="0"/>
                    <a:pt x="35754" y="0"/>
                  </a:cubicBezTo>
                  <a:close/>
                </a:path>
              </a:pathLst>
            </a:custGeom>
            <a:solidFill>
              <a:srgbClr val="C2DCFF"/>
            </a:solidFill>
            <a:ln w="38100" cap="rnd">
              <a:solidFill>
                <a:srgbClr val="00687A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67113" cy="865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7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Threshold Tuning result:</a:t>
              </a:r>
              <a:r>
                <a:rPr lang="en-US" sz="1999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 Best threshold = 0.4154 ⟶ Recall jumps to 0.86 BUT Precision drops to 0.47, causing excessive false positives, NOT deployed. Default threshold (0.5) used with recall = 0.61.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21167" y="0"/>
                  </a:moveTo>
                  <a:lnTo>
                    <a:pt x="4795426" y="0"/>
                  </a:lnTo>
                  <a:cubicBezTo>
                    <a:pt x="4801040" y="0"/>
                    <a:pt x="4806423" y="2230"/>
                    <a:pt x="4810393" y="6200"/>
                  </a:cubicBezTo>
                  <a:cubicBezTo>
                    <a:pt x="4814362" y="10169"/>
                    <a:pt x="4816592" y="15553"/>
                    <a:pt x="4816592" y="21167"/>
                  </a:cubicBezTo>
                  <a:lnTo>
                    <a:pt x="4816592" y="249767"/>
                  </a:lnTo>
                  <a:cubicBezTo>
                    <a:pt x="4816592" y="261457"/>
                    <a:pt x="4807116" y="270933"/>
                    <a:pt x="4795426" y="270933"/>
                  </a:cubicBezTo>
                  <a:lnTo>
                    <a:pt x="21167" y="270933"/>
                  </a:lnTo>
                  <a:cubicBezTo>
                    <a:pt x="9477" y="270933"/>
                    <a:pt x="0" y="261457"/>
                    <a:pt x="0" y="249767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00687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Strategic Recommendations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37103" y="1192323"/>
            <a:ext cx="16152943" cy="1637941"/>
            <a:chOff x="0" y="0"/>
            <a:chExt cx="4254273" cy="4313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54273" cy="431392"/>
            </a:xfrm>
            <a:custGeom>
              <a:avLst/>
              <a:gdLst/>
              <a:ahLst/>
              <a:cxnLst/>
              <a:rect r="r" b="b" t="t" l="l"/>
              <a:pathLst>
                <a:path h="431392" w="4254273">
                  <a:moveTo>
                    <a:pt x="0" y="0"/>
                  </a:moveTo>
                  <a:lnTo>
                    <a:pt x="4254273" y="0"/>
                  </a:lnTo>
                  <a:lnTo>
                    <a:pt x="4254273" y="431392"/>
                  </a:lnTo>
                  <a:lnTo>
                    <a:pt x="0" y="431392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254273" cy="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3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Deploy as Decision-Support in CRM</a:t>
              </a: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Integrate model for monthly/weekly scoring AUC=0.66 supports decision making, not full automation. Business judgement remains essential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37103" y="3178349"/>
            <a:ext cx="16132652" cy="1779972"/>
            <a:chOff x="0" y="0"/>
            <a:chExt cx="4248929" cy="4687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48929" cy="468799"/>
            </a:xfrm>
            <a:custGeom>
              <a:avLst/>
              <a:gdLst/>
              <a:ahLst/>
              <a:cxnLst/>
              <a:rect r="r" b="b" t="t" l="l"/>
              <a:pathLst>
                <a:path h="468799" w="4248929">
                  <a:moveTo>
                    <a:pt x="0" y="0"/>
                  </a:moveTo>
                  <a:lnTo>
                    <a:pt x="4248929" y="0"/>
                  </a:lnTo>
                  <a:lnTo>
                    <a:pt x="4248929" y="468799"/>
                  </a:lnTo>
                  <a:lnTo>
                    <a:pt x="0" y="46879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48929" cy="525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64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Risk Based Customer Tiering</a:t>
              </a:r>
            </a:p>
            <a:p>
              <a:pPr algn="just">
                <a:lnSpc>
                  <a:spcPts val="2799"/>
                </a:lnSpc>
              </a:pPr>
            </a:p>
            <a:p>
              <a:pPr algn="just">
                <a:lnSpc>
                  <a:spcPts val="27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  <a:r>
                <a:rPr lang="en-US" sz="1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ritical(&gt;0.60): Aggressive personal outreach, high-value discounts. High(0.50-0.60): Strong offers + complaint resolution. Medium (0.45-0.50): Emails, loyalty rewards. Low (&lt;0.45): No action.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37103" y="5401893"/>
            <a:ext cx="16152943" cy="1820553"/>
            <a:chOff x="0" y="0"/>
            <a:chExt cx="4254273" cy="479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54273" cy="479487"/>
            </a:xfrm>
            <a:custGeom>
              <a:avLst/>
              <a:gdLst/>
              <a:ahLst/>
              <a:cxnLst/>
              <a:rect r="r" b="b" t="t" l="l"/>
              <a:pathLst>
                <a:path h="479487" w="4254273">
                  <a:moveTo>
                    <a:pt x="0" y="0"/>
                  </a:moveTo>
                  <a:lnTo>
                    <a:pt x="4254273" y="0"/>
                  </a:lnTo>
                  <a:lnTo>
                    <a:pt x="4254273" y="479487"/>
                  </a:lnTo>
                  <a:lnTo>
                    <a:pt x="0" y="479487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254273" cy="536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64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Top-N Targeting for High-Value Segment</a:t>
              </a:r>
            </a:p>
            <a:p>
              <a:pPr algn="just">
                <a:lnSpc>
                  <a:spcPts val="2799"/>
                </a:lnSpc>
              </a:pP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Model recall for high-value is only 17%. Use top-30% probability ranking within high-value segment. 43.18% churn density vs 31.35% overall ⟶ higher ROI per campaign rupee.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37103" y="7666018"/>
            <a:ext cx="16152943" cy="1942293"/>
            <a:chOff x="0" y="0"/>
            <a:chExt cx="4254273" cy="5115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54273" cy="511551"/>
            </a:xfrm>
            <a:custGeom>
              <a:avLst/>
              <a:gdLst/>
              <a:ahLst/>
              <a:cxnLst/>
              <a:rect r="r" b="b" t="t" l="l"/>
              <a:pathLst>
                <a:path h="511551" w="4254273">
                  <a:moveTo>
                    <a:pt x="0" y="0"/>
                  </a:moveTo>
                  <a:lnTo>
                    <a:pt x="4254273" y="0"/>
                  </a:lnTo>
                  <a:lnTo>
                    <a:pt x="4254273" y="511551"/>
                  </a:lnTo>
                  <a:lnTo>
                    <a:pt x="0" y="511551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54273" cy="568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64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Address Root Cause Churn Drivers</a:t>
              </a:r>
            </a:p>
            <a:p>
              <a:pPr algn="just">
                <a:lnSpc>
                  <a:spcPts val="2799"/>
                </a:lnSpc>
              </a:pPr>
            </a:p>
            <a:p>
              <a:pPr algn="just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Counter competitor offers proactively. Fix onboarding for new customers (≤12m). Reduce complaint resolution time (&lt;2days). Upgrade network quality.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6824" y="1192323"/>
            <a:ext cx="1280279" cy="1637941"/>
            <a:chOff x="0" y="0"/>
            <a:chExt cx="337193" cy="4313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7193" cy="431392"/>
            </a:xfrm>
            <a:custGeom>
              <a:avLst/>
              <a:gdLst/>
              <a:ahLst/>
              <a:cxnLst/>
              <a:rect r="r" b="b" t="t" l="l"/>
              <a:pathLst>
                <a:path h="431392" w="337193">
                  <a:moveTo>
                    <a:pt x="0" y="0"/>
                  </a:moveTo>
                  <a:lnTo>
                    <a:pt x="337193" y="0"/>
                  </a:lnTo>
                  <a:lnTo>
                    <a:pt x="337193" y="431392"/>
                  </a:lnTo>
                  <a:lnTo>
                    <a:pt x="0" y="431392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37193" cy="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56824" y="3178349"/>
            <a:ext cx="1280279" cy="1779972"/>
            <a:chOff x="0" y="0"/>
            <a:chExt cx="337193" cy="4687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7193" cy="468799"/>
            </a:xfrm>
            <a:custGeom>
              <a:avLst/>
              <a:gdLst/>
              <a:ahLst/>
              <a:cxnLst/>
              <a:rect r="r" b="b" t="t" l="l"/>
              <a:pathLst>
                <a:path h="468799" w="337193">
                  <a:moveTo>
                    <a:pt x="0" y="0"/>
                  </a:moveTo>
                  <a:lnTo>
                    <a:pt x="337193" y="0"/>
                  </a:lnTo>
                  <a:lnTo>
                    <a:pt x="337193" y="468799"/>
                  </a:lnTo>
                  <a:lnTo>
                    <a:pt x="0" y="468799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37193" cy="525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6824" y="5401893"/>
            <a:ext cx="1280279" cy="1820553"/>
            <a:chOff x="0" y="0"/>
            <a:chExt cx="337193" cy="47948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7193" cy="479487"/>
            </a:xfrm>
            <a:custGeom>
              <a:avLst/>
              <a:gdLst/>
              <a:ahLst/>
              <a:cxnLst/>
              <a:rect r="r" b="b" t="t" l="l"/>
              <a:pathLst>
                <a:path h="479487" w="337193">
                  <a:moveTo>
                    <a:pt x="0" y="0"/>
                  </a:moveTo>
                  <a:lnTo>
                    <a:pt x="337193" y="0"/>
                  </a:lnTo>
                  <a:lnTo>
                    <a:pt x="337193" y="479487"/>
                  </a:lnTo>
                  <a:lnTo>
                    <a:pt x="0" y="479487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37193" cy="536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6824" y="7666018"/>
            <a:ext cx="1280279" cy="1942293"/>
            <a:chOff x="0" y="0"/>
            <a:chExt cx="337193" cy="5115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7193" cy="511551"/>
            </a:xfrm>
            <a:custGeom>
              <a:avLst/>
              <a:gdLst/>
              <a:ahLst/>
              <a:cxnLst/>
              <a:rect r="r" b="b" t="t" l="l"/>
              <a:pathLst>
                <a:path h="511551" w="337193">
                  <a:moveTo>
                    <a:pt x="0" y="0"/>
                  </a:moveTo>
                  <a:lnTo>
                    <a:pt x="337193" y="0"/>
                  </a:lnTo>
                  <a:lnTo>
                    <a:pt x="337193" y="511551"/>
                  </a:lnTo>
                  <a:lnTo>
                    <a:pt x="0" y="511551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37193" cy="568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21167" y="0"/>
                  </a:moveTo>
                  <a:lnTo>
                    <a:pt x="4795426" y="0"/>
                  </a:lnTo>
                  <a:cubicBezTo>
                    <a:pt x="4801040" y="0"/>
                    <a:pt x="4806423" y="2230"/>
                    <a:pt x="4810393" y="6200"/>
                  </a:cubicBezTo>
                  <a:cubicBezTo>
                    <a:pt x="4814362" y="10169"/>
                    <a:pt x="4816592" y="15553"/>
                    <a:pt x="4816592" y="21167"/>
                  </a:cubicBezTo>
                  <a:lnTo>
                    <a:pt x="4816592" y="249767"/>
                  </a:lnTo>
                  <a:cubicBezTo>
                    <a:pt x="4816592" y="261457"/>
                    <a:pt x="4807116" y="270933"/>
                    <a:pt x="4795426" y="270933"/>
                  </a:cubicBezTo>
                  <a:lnTo>
                    <a:pt x="21167" y="270933"/>
                  </a:lnTo>
                  <a:cubicBezTo>
                    <a:pt x="9477" y="270933"/>
                    <a:pt x="0" y="261457"/>
                    <a:pt x="0" y="249767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11676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Business Impact Quantification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2016" y="1476719"/>
            <a:ext cx="4993372" cy="1746952"/>
            <a:chOff x="0" y="0"/>
            <a:chExt cx="1315127" cy="4601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5127" cy="460102"/>
            </a:xfrm>
            <a:custGeom>
              <a:avLst/>
              <a:gdLst/>
              <a:ahLst/>
              <a:cxnLst/>
              <a:rect r="r" b="b" t="t" l="l"/>
              <a:pathLst>
                <a:path h="460102" w="1315127">
                  <a:moveTo>
                    <a:pt x="77522" y="0"/>
                  </a:moveTo>
                  <a:lnTo>
                    <a:pt x="1237605" y="0"/>
                  </a:lnTo>
                  <a:cubicBezTo>
                    <a:pt x="1280419" y="0"/>
                    <a:pt x="1315127" y="34708"/>
                    <a:pt x="1315127" y="77522"/>
                  </a:cubicBezTo>
                  <a:lnTo>
                    <a:pt x="1315127" y="382581"/>
                  </a:lnTo>
                  <a:cubicBezTo>
                    <a:pt x="1315127" y="403141"/>
                    <a:pt x="1306959" y="422859"/>
                    <a:pt x="1292421" y="437397"/>
                  </a:cubicBezTo>
                  <a:cubicBezTo>
                    <a:pt x="1277883" y="451935"/>
                    <a:pt x="1258165" y="460102"/>
                    <a:pt x="1237605" y="460102"/>
                  </a:cubicBezTo>
                  <a:lnTo>
                    <a:pt x="77522" y="460102"/>
                  </a:lnTo>
                  <a:cubicBezTo>
                    <a:pt x="34708" y="460102"/>
                    <a:pt x="0" y="425395"/>
                    <a:pt x="0" y="382581"/>
                  </a:cubicBezTo>
                  <a:lnTo>
                    <a:pt x="0" y="77522"/>
                  </a:lnTo>
                  <a:cubicBezTo>
                    <a:pt x="0" y="34708"/>
                    <a:pt x="34708" y="0"/>
                    <a:pt x="77522" y="0"/>
                  </a:cubicBezTo>
                  <a:close/>
                </a:path>
              </a:pathLst>
            </a:custGeom>
            <a:solidFill>
              <a:srgbClr val="FF505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315127" cy="545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159"/>
                </a:lnSpc>
              </a:pPr>
              <a:r>
                <a:rPr lang="en-US" sz="43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10,357</a:t>
              </a:r>
            </a:p>
            <a:p>
              <a:pPr algn="ctr">
                <a:lnSpc>
                  <a:spcPts val="2799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Actual Churners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6299" y="1476719"/>
            <a:ext cx="5135403" cy="1746952"/>
            <a:chOff x="0" y="0"/>
            <a:chExt cx="1352534" cy="4601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2534" cy="460102"/>
            </a:xfrm>
            <a:custGeom>
              <a:avLst/>
              <a:gdLst/>
              <a:ahLst/>
              <a:cxnLst/>
              <a:rect r="r" b="b" t="t" l="l"/>
              <a:pathLst>
                <a:path h="460102" w="1352534">
                  <a:moveTo>
                    <a:pt x="75378" y="0"/>
                  </a:moveTo>
                  <a:lnTo>
                    <a:pt x="1277156" y="0"/>
                  </a:lnTo>
                  <a:cubicBezTo>
                    <a:pt x="1297148" y="0"/>
                    <a:pt x="1316320" y="7942"/>
                    <a:pt x="1330456" y="22078"/>
                  </a:cubicBezTo>
                  <a:cubicBezTo>
                    <a:pt x="1344593" y="36214"/>
                    <a:pt x="1352534" y="55386"/>
                    <a:pt x="1352534" y="75378"/>
                  </a:cubicBezTo>
                  <a:lnTo>
                    <a:pt x="1352534" y="384725"/>
                  </a:lnTo>
                  <a:cubicBezTo>
                    <a:pt x="1352534" y="404716"/>
                    <a:pt x="1344593" y="423889"/>
                    <a:pt x="1330456" y="438025"/>
                  </a:cubicBezTo>
                  <a:cubicBezTo>
                    <a:pt x="1316320" y="452161"/>
                    <a:pt x="1297148" y="460102"/>
                    <a:pt x="1277156" y="460102"/>
                  </a:cubicBezTo>
                  <a:lnTo>
                    <a:pt x="75378" y="460102"/>
                  </a:lnTo>
                  <a:cubicBezTo>
                    <a:pt x="33748" y="460102"/>
                    <a:pt x="0" y="426355"/>
                    <a:pt x="0" y="384725"/>
                  </a:cubicBezTo>
                  <a:lnTo>
                    <a:pt x="0" y="75378"/>
                  </a:lnTo>
                  <a:cubicBezTo>
                    <a:pt x="0" y="55386"/>
                    <a:pt x="7942" y="36214"/>
                    <a:pt x="22078" y="22078"/>
                  </a:cubicBezTo>
                  <a:cubicBezTo>
                    <a:pt x="36214" y="7942"/>
                    <a:pt x="55386" y="0"/>
                    <a:pt x="75378" y="0"/>
                  </a:cubicBezTo>
                  <a:close/>
                </a:path>
              </a:pathLst>
            </a:custGeom>
            <a:solidFill>
              <a:srgbClr val="FF751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352534" cy="545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16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₹ 450/month</a:t>
              </a:r>
            </a:p>
            <a:p>
              <a:pPr algn="ctr">
                <a:lnSpc>
                  <a:spcPts val="2799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Average ARPU (churned)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545165" y="1476719"/>
            <a:ext cx="5135403" cy="1746952"/>
            <a:chOff x="0" y="0"/>
            <a:chExt cx="1352534" cy="4601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2534" cy="460102"/>
            </a:xfrm>
            <a:custGeom>
              <a:avLst/>
              <a:gdLst/>
              <a:ahLst/>
              <a:cxnLst/>
              <a:rect r="r" b="b" t="t" l="l"/>
              <a:pathLst>
                <a:path h="460102" w="1352534">
                  <a:moveTo>
                    <a:pt x="75378" y="0"/>
                  </a:moveTo>
                  <a:lnTo>
                    <a:pt x="1277156" y="0"/>
                  </a:lnTo>
                  <a:cubicBezTo>
                    <a:pt x="1297148" y="0"/>
                    <a:pt x="1316320" y="7942"/>
                    <a:pt x="1330456" y="22078"/>
                  </a:cubicBezTo>
                  <a:cubicBezTo>
                    <a:pt x="1344593" y="36214"/>
                    <a:pt x="1352534" y="55386"/>
                    <a:pt x="1352534" y="75378"/>
                  </a:cubicBezTo>
                  <a:lnTo>
                    <a:pt x="1352534" y="384725"/>
                  </a:lnTo>
                  <a:cubicBezTo>
                    <a:pt x="1352534" y="404716"/>
                    <a:pt x="1344593" y="423889"/>
                    <a:pt x="1330456" y="438025"/>
                  </a:cubicBezTo>
                  <a:cubicBezTo>
                    <a:pt x="1316320" y="452161"/>
                    <a:pt x="1297148" y="460102"/>
                    <a:pt x="1277156" y="460102"/>
                  </a:cubicBezTo>
                  <a:lnTo>
                    <a:pt x="75378" y="460102"/>
                  </a:lnTo>
                  <a:cubicBezTo>
                    <a:pt x="33748" y="460102"/>
                    <a:pt x="0" y="426355"/>
                    <a:pt x="0" y="384725"/>
                  </a:cubicBezTo>
                  <a:lnTo>
                    <a:pt x="0" y="75378"/>
                  </a:lnTo>
                  <a:cubicBezTo>
                    <a:pt x="0" y="55386"/>
                    <a:pt x="7942" y="36214"/>
                    <a:pt x="22078" y="22078"/>
                  </a:cubicBezTo>
                  <a:cubicBezTo>
                    <a:pt x="36214" y="7942"/>
                    <a:pt x="55386" y="0"/>
                    <a:pt x="75378" y="0"/>
                  </a:cubicBezTo>
                  <a:close/>
                </a:path>
              </a:pathLst>
            </a:custGeom>
            <a:solidFill>
              <a:srgbClr val="2C0A71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352534" cy="545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16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₹ 5.59 Cr</a:t>
              </a:r>
            </a:p>
            <a:p>
              <a:pPr algn="ctr">
                <a:lnSpc>
                  <a:spcPts val="2799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Annual Revenue at Risk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2016" y="3671346"/>
            <a:ext cx="4993372" cy="2056487"/>
            <a:chOff x="0" y="0"/>
            <a:chExt cx="1315127" cy="5416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5127" cy="541626"/>
            </a:xfrm>
            <a:custGeom>
              <a:avLst/>
              <a:gdLst/>
              <a:ahLst/>
              <a:cxnLst/>
              <a:rect r="r" b="b" t="t" l="l"/>
              <a:pathLst>
                <a:path h="541626" w="1315127">
                  <a:moveTo>
                    <a:pt x="77522" y="0"/>
                  </a:moveTo>
                  <a:lnTo>
                    <a:pt x="1237605" y="0"/>
                  </a:lnTo>
                  <a:cubicBezTo>
                    <a:pt x="1280419" y="0"/>
                    <a:pt x="1315127" y="34708"/>
                    <a:pt x="1315127" y="77522"/>
                  </a:cubicBezTo>
                  <a:lnTo>
                    <a:pt x="1315127" y="464104"/>
                  </a:lnTo>
                  <a:cubicBezTo>
                    <a:pt x="1315127" y="484664"/>
                    <a:pt x="1306959" y="504382"/>
                    <a:pt x="1292421" y="518921"/>
                  </a:cubicBezTo>
                  <a:cubicBezTo>
                    <a:pt x="1277883" y="533459"/>
                    <a:pt x="1258165" y="541626"/>
                    <a:pt x="1237605" y="541626"/>
                  </a:cubicBezTo>
                  <a:lnTo>
                    <a:pt x="77522" y="541626"/>
                  </a:lnTo>
                  <a:cubicBezTo>
                    <a:pt x="34708" y="541626"/>
                    <a:pt x="0" y="506918"/>
                    <a:pt x="0" y="464104"/>
                  </a:cubicBezTo>
                  <a:lnTo>
                    <a:pt x="0" y="77522"/>
                  </a:lnTo>
                  <a:cubicBezTo>
                    <a:pt x="0" y="34708"/>
                    <a:pt x="34708" y="0"/>
                    <a:pt x="77522" y="0"/>
                  </a:cubicBezTo>
                  <a:close/>
                </a:path>
              </a:pathLst>
            </a:custGeom>
            <a:solidFill>
              <a:srgbClr val="004E7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315127" cy="62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16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6,317</a:t>
              </a:r>
            </a:p>
            <a:p>
              <a:pPr algn="ctr">
                <a:lnSpc>
                  <a:spcPts val="2799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Churners Identified by Model (61% Recall)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76299" y="3671346"/>
            <a:ext cx="5135403" cy="2056487"/>
            <a:chOff x="0" y="0"/>
            <a:chExt cx="1352534" cy="5416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2534" cy="541626"/>
            </a:xfrm>
            <a:custGeom>
              <a:avLst/>
              <a:gdLst/>
              <a:ahLst/>
              <a:cxnLst/>
              <a:rect r="r" b="b" t="t" l="l"/>
              <a:pathLst>
                <a:path h="541626" w="1352534">
                  <a:moveTo>
                    <a:pt x="75378" y="0"/>
                  </a:moveTo>
                  <a:lnTo>
                    <a:pt x="1277156" y="0"/>
                  </a:lnTo>
                  <a:cubicBezTo>
                    <a:pt x="1297148" y="0"/>
                    <a:pt x="1316320" y="7942"/>
                    <a:pt x="1330456" y="22078"/>
                  </a:cubicBezTo>
                  <a:cubicBezTo>
                    <a:pt x="1344593" y="36214"/>
                    <a:pt x="1352534" y="55386"/>
                    <a:pt x="1352534" y="75378"/>
                  </a:cubicBezTo>
                  <a:lnTo>
                    <a:pt x="1352534" y="466248"/>
                  </a:lnTo>
                  <a:cubicBezTo>
                    <a:pt x="1352534" y="486240"/>
                    <a:pt x="1344593" y="505412"/>
                    <a:pt x="1330456" y="519549"/>
                  </a:cubicBezTo>
                  <a:cubicBezTo>
                    <a:pt x="1316320" y="533685"/>
                    <a:pt x="1297148" y="541626"/>
                    <a:pt x="1277156" y="541626"/>
                  </a:cubicBezTo>
                  <a:lnTo>
                    <a:pt x="75378" y="541626"/>
                  </a:lnTo>
                  <a:cubicBezTo>
                    <a:pt x="55386" y="541626"/>
                    <a:pt x="36214" y="533685"/>
                    <a:pt x="22078" y="519549"/>
                  </a:cubicBezTo>
                  <a:cubicBezTo>
                    <a:pt x="7942" y="505412"/>
                    <a:pt x="0" y="486240"/>
                    <a:pt x="0" y="466248"/>
                  </a:cubicBezTo>
                  <a:lnTo>
                    <a:pt x="0" y="75378"/>
                  </a:lnTo>
                  <a:cubicBezTo>
                    <a:pt x="0" y="55386"/>
                    <a:pt x="7942" y="36214"/>
                    <a:pt x="22078" y="22078"/>
                  </a:cubicBezTo>
                  <a:cubicBezTo>
                    <a:pt x="36214" y="7942"/>
                    <a:pt x="55386" y="0"/>
                    <a:pt x="75378" y="0"/>
                  </a:cubicBezTo>
                  <a:close/>
                </a:path>
              </a:pathLst>
            </a:custGeom>
            <a:solidFill>
              <a:srgbClr val="4CA62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352534" cy="62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16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2,210</a:t>
              </a:r>
            </a:p>
            <a:p>
              <a:pPr algn="ctr">
                <a:lnSpc>
                  <a:spcPts val="2799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Retained (35% Conservative Rate)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545165" y="3671346"/>
            <a:ext cx="5135403" cy="2056487"/>
            <a:chOff x="0" y="0"/>
            <a:chExt cx="1352534" cy="5416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52534" cy="541626"/>
            </a:xfrm>
            <a:custGeom>
              <a:avLst/>
              <a:gdLst/>
              <a:ahLst/>
              <a:cxnLst/>
              <a:rect r="r" b="b" t="t" l="l"/>
              <a:pathLst>
                <a:path h="541626" w="1352534">
                  <a:moveTo>
                    <a:pt x="75378" y="0"/>
                  </a:moveTo>
                  <a:lnTo>
                    <a:pt x="1277156" y="0"/>
                  </a:lnTo>
                  <a:cubicBezTo>
                    <a:pt x="1297148" y="0"/>
                    <a:pt x="1316320" y="7942"/>
                    <a:pt x="1330456" y="22078"/>
                  </a:cubicBezTo>
                  <a:cubicBezTo>
                    <a:pt x="1344593" y="36214"/>
                    <a:pt x="1352534" y="55386"/>
                    <a:pt x="1352534" y="75378"/>
                  </a:cubicBezTo>
                  <a:lnTo>
                    <a:pt x="1352534" y="466248"/>
                  </a:lnTo>
                  <a:cubicBezTo>
                    <a:pt x="1352534" y="486240"/>
                    <a:pt x="1344593" y="505412"/>
                    <a:pt x="1330456" y="519549"/>
                  </a:cubicBezTo>
                  <a:cubicBezTo>
                    <a:pt x="1316320" y="533685"/>
                    <a:pt x="1297148" y="541626"/>
                    <a:pt x="1277156" y="541626"/>
                  </a:cubicBezTo>
                  <a:lnTo>
                    <a:pt x="75378" y="541626"/>
                  </a:lnTo>
                  <a:cubicBezTo>
                    <a:pt x="55386" y="541626"/>
                    <a:pt x="36214" y="533685"/>
                    <a:pt x="22078" y="519549"/>
                  </a:cubicBezTo>
                  <a:cubicBezTo>
                    <a:pt x="7942" y="505412"/>
                    <a:pt x="0" y="486240"/>
                    <a:pt x="0" y="466248"/>
                  </a:cubicBezTo>
                  <a:lnTo>
                    <a:pt x="0" y="75378"/>
                  </a:lnTo>
                  <a:cubicBezTo>
                    <a:pt x="0" y="55386"/>
                    <a:pt x="7942" y="36214"/>
                    <a:pt x="22078" y="22078"/>
                  </a:cubicBezTo>
                  <a:cubicBezTo>
                    <a:pt x="36214" y="7942"/>
                    <a:pt x="55386" y="0"/>
                    <a:pt x="75378" y="0"/>
                  </a:cubicBezTo>
                  <a:close/>
                </a:path>
              </a:pathLst>
            </a:custGeom>
            <a:solidFill>
              <a:srgbClr val="00BF63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352534" cy="62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16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₹ 1.19 Cr</a:t>
              </a:r>
            </a:p>
            <a:p>
              <a:pPr algn="ctr">
                <a:lnSpc>
                  <a:spcPts val="2799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Annual Revenue Saved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2016" y="5913525"/>
            <a:ext cx="16998552" cy="813606"/>
            <a:chOff x="0" y="0"/>
            <a:chExt cx="4476985" cy="2142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76985" cy="214283"/>
            </a:xfrm>
            <a:custGeom>
              <a:avLst/>
              <a:gdLst/>
              <a:ahLst/>
              <a:cxnLst/>
              <a:rect r="r" b="b" t="t" l="l"/>
              <a:pathLst>
                <a:path h="214283" w="4476985">
                  <a:moveTo>
                    <a:pt x="11386" y="0"/>
                  </a:moveTo>
                  <a:lnTo>
                    <a:pt x="4465599" y="0"/>
                  </a:lnTo>
                  <a:cubicBezTo>
                    <a:pt x="4471887" y="0"/>
                    <a:pt x="4476985" y="5098"/>
                    <a:pt x="4476985" y="11386"/>
                  </a:cubicBezTo>
                  <a:lnTo>
                    <a:pt x="4476985" y="202897"/>
                  </a:lnTo>
                  <a:cubicBezTo>
                    <a:pt x="4476985" y="205917"/>
                    <a:pt x="4475785" y="208813"/>
                    <a:pt x="4473650" y="210948"/>
                  </a:cubicBezTo>
                  <a:cubicBezTo>
                    <a:pt x="4471515" y="213083"/>
                    <a:pt x="4468619" y="214283"/>
                    <a:pt x="4465599" y="214283"/>
                  </a:cubicBezTo>
                  <a:lnTo>
                    <a:pt x="11386" y="214283"/>
                  </a:lnTo>
                  <a:cubicBezTo>
                    <a:pt x="8366" y="214283"/>
                    <a:pt x="5470" y="213083"/>
                    <a:pt x="3335" y="210948"/>
                  </a:cubicBezTo>
                  <a:cubicBezTo>
                    <a:pt x="1200" y="208813"/>
                    <a:pt x="0" y="205917"/>
                    <a:pt x="0" y="202897"/>
                  </a:cubicBezTo>
                  <a:lnTo>
                    <a:pt x="0" y="11386"/>
                  </a:lnTo>
                  <a:cubicBezTo>
                    <a:pt x="0" y="8366"/>
                    <a:pt x="1200" y="5470"/>
                    <a:pt x="3335" y="3335"/>
                  </a:cubicBezTo>
                  <a:cubicBezTo>
                    <a:pt x="5470" y="1200"/>
                    <a:pt x="8366" y="0"/>
                    <a:pt x="11386" y="0"/>
                  </a:cubicBezTo>
                  <a:close/>
                </a:path>
              </a:pathLst>
            </a:custGeom>
            <a:solidFill>
              <a:srgbClr val="00BF6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476985" cy="271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59"/>
                </a:lnSpc>
              </a:pPr>
              <a:r>
                <a:rPr lang="en-US" sz="19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Revenue Risk Mitigated: 21.34% | ₹1.19 Cr saved from ₹5.59Cr at risk | Retention rate: 35% (conservative rate assumed)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2016" y="7089080"/>
            <a:ext cx="16998552" cy="529544"/>
            <a:chOff x="0" y="0"/>
            <a:chExt cx="4476985" cy="1394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76985" cy="139468"/>
            </a:xfrm>
            <a:custGeom>
              <a:avLst/>
              <a:gdLst/>
              <a:ahLst/>
              <a:cxnLst/>
              <a:rect r="r" b="b" t="t" l="l"/>
              <a:pathLst>
                <a:path h="139468" w="4476985">
                  <a:moveTo>
                    <a:pt x="11386" y="0"/>
                  </a:moveTo>
                  <a:lnTo>
                    <a:pt x="4465599" y="0"/>
                  </a:lnTo>
                  <a:cubicBezTo>
                    <a:pt x="4471887" y="0"/>
                    <a:pt x="4476985" y="5098"/>
                    <a:pt x="4476985" y="11386"/>
                  </a:cubicBezTo>
                  <a:lnTo>
                    <a:pt x="4476985" y="128082"/>
                  </a:lnTo>
                  <a:cubicBezTo>
                    <a:pt x="4476985" y="131102"/>
                    <a:pt x="4475785" y="133998"/>
                    <a:pt x="4473650" y="136133"/>
                  </a:cubicBezTo>
                  <a:cubicBezTo>
                    <a:pt x="4471515" y="138269"/>
                    <a:pt x="4468619" y="139468"/>
                    <a:pt x="4465599" y="139468"/>
                  </a:cubicBezTo>
                  <a:lnTo>
                    <a:pt x="11386" y="139468"/>
                  </a:lnTo>
                  <a:cubicBezTo>
                    <a:pt x="8366" y="139468"/>
                    <a:pt x="5470" y="138269"/>
                    <a:pt x="3335" y="136133"/>
                  </a:cubicBezTo>
                  <a:cubicBezTo>
                    <a:pt x="1200" y="133998"/>
                    <a:pt x="0" y="131102"/>
                    <a:pt x="0" y="128082"/>
                  </a:cubicBezTo>
                  <a:lnTo>
                    <a:pt x="0" y="11386"/>
                  </a:lnTo>
                  <a:cubicBezTo>
                    <a:pt x="0" y="8366"/>
                    <a:pt x="1200" y="5470"/>
                    <a:pt x="3335" y="3335"/>
                  </a:cubicBezTo>
                  <a:cubicBezTo>
                    <a:pt x="5470" y="1200"/>
                    <a:pt x="8366" y="0"/>
                    <a:pt x="1138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476985" cy="177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799"/>
                </a:lnSpc>
              </a:pPr>
              <a:r>
                <a:rPr lang="en-US" b="true" sz="1999" i="true">
                  <a:solidFill>
                    <a:srgbClr val="2E6417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Top N Targeting Strategy – For High-Value Segment (Test Set Results)</a:t>
              </a:r>
            </a:p>
          </p:txBody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682016" y="7618624"/>
          <a:ext cx="16998552" cy="2479175"/>
        </p:xfrm>
        <a:graphic>
          <a:graphicData uri="http://schemas.openxmlformats.org/drawingml/2006/table">
            <a:tbl>
              <a:tblPr/>
              <a:tblGrid>
                <a:gridCol w="3938625"/>
                <a:gridCol w="4560651"/>
                <a:gridCol w="4840065"/>
                <a:gridCol w="3659210"/>
              </a:tblGrid>
              <a:tr h="60587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Target Group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Customers Targeted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Churn Captured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Churn Rate (%)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</a:tr>
              <a:tr h="6244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A714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Top 30% (Recommended)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43.18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4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Top 50%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293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37.18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4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All Customers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587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184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31.35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21167" y="0"/>
                  </a:moveTo>
                  <a:lnTo>
                    <a:pt x="4795426" y="0"/>
                  </a:lnTo>
                  <a:cubicBezTo>
                    <a:pt x="4801040" y="0"/>
                    <a:pt x="4806423" y="2230"/>
                    <a:pt x="4810393" y="6200"/>
                  </a:cubicBezTo>
                  <a:cubicBezTo>
                    <a:pt x="4814362" y="10169"/>
                    <a:pt x="4816592" y="15553"/>
                    <a:pt x="4816592" y="21167"/>
                  </a:cubicBezTo>
                  <a:lnTo>
                    <a:pt x="4816592" y="249767"/>
                  </a:lnTo>
                  <a:cubicBezTo>
                    <a:pt x="4816592" y="261457"/>
                    <a:pt x="4807116" y="270933"/>
                    <a:pt x="4795426" y="270933"/>
                  </a:cubicBezTo>
                  <a:lnTo>
                    <a:pt x="21167" y="270933"/>
                  </a:lnTo>
                  <a:cubicBezTo>
                    <a:pt x="9477" y="270933"/>
                    <a:pt x="0" y="261457"/>
                    <a:pt x="0" y="249767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001B3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34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Conclusion &amp; Key Takeaways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3284" y="1484081"/>
            <a:ext cx="5259668" cy="3370584"/>
            <a:chOff x="0" y="0"/>
            <a:chExt cx="1385262" cy="8877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5262" cy="887726"/>
            </a:xfrm>
            <a:custGeom>
              <a:avLst/>
              <a:gdLst/>
              <a:ahLst/>
              <a:cxnLst/>
              <a:rect r="r" b="b" t="t" l="l"/>
              <a:pathLst>
                <a:path h="887726" w="1385262">
                  <a:moveTo>
                    <a:pt x="44158" y="0"/>
                  </a:moveTo>
                  <a:lnTo>
                    <a:pt x="1341104" y="0"/>
                  </a:lnTo>
                  <a:cubicBezTo>
                    <a:pt x="1352816" y="0"/>
                    <a:pt x="1364047" y="4652"/>
                    <a:pt x="1372329" y="12934"/>
                  </a:cubicBezTo>
                  <a:cubicBezTo>
                    <a:pt x="1380610" y="21215"/>
                    <a:pt x="1385262" y="32447"/>
                    <a:pt x="1385262" y="44158"/>
                  </a:cubicBezTo>
                  <a:lnTo>
                    <a:pt x="1385262" y="843568"/>
                  </a:lnTo>
                  <a:cubicBezTo>
                    <a:pt x="1385262" y="867955"/>
                    <a:pt x="1365492" y="887726"/>
                    <a:pt x="1341104" y="887726"/>
                  </a:cubicBezTo>
                  <a:lnTo>
                    <a:pt x="44158" y="887726"/>
                  </a:lnTo>
                  <a:cubicBezTo>
                    <a:pt x="19770" y="887726"/>
                    <a:pt x="0" y="867955"/>
                    <a:pt x="0" y="843568"/>
                  </a:cubicBezTo>
                  <a:lnTo>
                    <a:pt x="0" y="44158"/>
                  </a:lnTo>
                  <a:cubicBezTo>
                    <a:pt x="0" y="19770"/>
                    <a:pt x="19770" y="0"/>
                    <a:pt x="44158" y="0"/>
                  </a:cubicBezTo>
                  <a:close/>
                </a:path>
              </a:pathLst>
            </a:custGeom>
            <a:solidFill>
              <a:srgbClr val="2C0A7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85262" cy="944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🎯</a:t>
              </a:r>
            </a:p>
            <a:p>
              <a:pPr algn="ctr">
                <a:lnSpc>
                  <a:spcPts val="3639"/>
                </a:lnSpc>
              </a:pPr>
              <a:r>
                <a:rPr lang="en-US" b="true" sz="2599">
                  <a:gradFill>
                    <a:gsLst>
                      <a:gs pos="0">
                        <a:srgbClr val="FF66C4">
                          <a:alpha val="100000"/>
                        </a:srgbClr>
                      </a:gs>
                      <a:gs pos="100000">
                        <a:srgbClr val="FFDE59">
                          <a:alpha val="100000"/>
                        </a:srgbClr>
                      </a:gs>
                    </a:gsLst>
                    <a:lin ang="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Churn is Predictable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 i="true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Tuned LR (FE) achieves Recall=0.61 identifying 6,317 out of 10,357 churners for targeted intervention.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75902" y="1484081"/>
            <a:ext cx="5259668" cy="3370584"/>
            <a:chOff x="0" y="0"/>
            <a:chExt cx="1385262" cy="8877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5262" cy="887726"/>
            </a:xfrm>
            <a:custGeom>
              <a:avLst/>
              <a:gdLst/>
              <a:ahLst/>
              <a:cxnLst/>
              <a:rect r="r" b="b" t="t" l="l"/>
              <a:pathLst>
                <a:path h="887726" w="1385262">
                  <a:moveTo>
                    <a:pt x="44158" y="0"/>
                  </a:moveTo>
                  <a:lnTo>
                    <a:pt x="1341104" y="0"/>
                  </a:lnTo>
                  <a:cubicBezTo>
                    <a:pt x="1352816" y="0"/>
                    <a:pt x="1364047" y="4652"/>
                    <a:pt x="1372329" y="12934"/>
                  </a:cubicBezTo>
                  <a:cubicBezTo>
                    <a:pt x="1380610" y="21215"/>
                    <a:pt x="1385262" y="32447"/>
                    <a:pt x="1385262" y="44158"/>
                  </a:cubicBezTo>
                  <a:lnTo>
                    <a:pt x="1385262" y="843568"/>
                  </a:lnTo>
                  <a:cubicBezTo>
                    <a:pt x="1385262" y="867955"/>
                    <a:pt x="1365492" y="887726"/>
                    <a:pt x="1341104" y="887726"/>
                  </a:cubicBezTo>
                  <a:lnTo>
                    <a:pt x="44158" y="887726"/>
                  </a:lnTo>
                  <a:cubicBezTo>
                    <a:pt x="19770" y="887726"/>
                    <a:pt x="0" y="867955"/>
                    <a:pt x="0" y="843568"/>
                  </a:cubicBezTo>
                  <a:lnTo>
                    <a:pt x="0" y="44158"/>
                  </a:lnTo>
                  <a:cubicBezTo>
                    <a:pt x="0" y="19770"/>
                    <a:pt x="19770" y="0"/>
                    <a:pt x="44158" y="0"/>
                  </a:cubicBezTo>
                  <a:close/>
                </a:path>
              </a:pathLst>
            </a:custGeom>
            <a:solidFill>
              <a:srgbClr val="2C0A7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85262" cy="944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💡</a:t>
              </a:r>
            </a:p>
            <a:p>
              <a:pPr algn="ctr">
                <a:lnSpc>
                  <a:spcPts val="3639"/>
                </a:lnSpc>
              </a:pPr>
              <a:r>
                <a:rPr lang="en-US" b="true" sz="2599">
                  <a:gradFill>
                    <a:gsLst>
                      <a:gs pos="0">
                        <a:srgbClr val="FF66C4">
                          <a:alpha val="100000"/>
                        </a:srgbClr>
                      </a:gs>
                      <a:gs pos="100000">
                        <a:srgbClr val="FFDE59">
                          <a:alpha val="100000"/>
                        </a:srgbClr>
                      </a:gs>
                    </a:gsLst>
                    <a:lin ang="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Root Cause are Clear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 i="true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Competitor offers, weak onboarding (&lt;12m), and low NPS are the top 3 churn triggers – all addressable.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81683" y="1484081"/>
            <a:ext cx="5259668" cy="3370584"/>
            <a:chOff x="0" y="0"/>
            <a:chExt cx="1385262" cy="8877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5262" cy="887726"/>
            </a:xfrm>
            <a:custGeom>
              <a:avLst/>
              <a:gdLst/>
              <a:ahLst/>
              <a:cxnLst/>
              <a:rect r="r" b="b" t="t" l="l"/>
              <a:pathLst>
                <a:path h="887726" w="1385262">
                  <a:moveTo>
                    <a:pt x="44158" y="0"/>
                  </a:moveTo>
                  <a:lnTo>
                    <a:pt x="1341104" y="0"/>
                  </a:lnTo>
                  <a:cubicBezTo>
                    <a:pt x="1352816" y="0"/>
                    <a:pt x="1364047" y="4652"/>
                    <a:pt x="1372329" y="12934"/>
                  </a:cubicBezTo>
                  <a:cubicBezTo>
                    <a:pt x="1380610" y="21215"/>
                    <a:pt x="1385262" y="32447"/>
                    <a:pt x="1385262" y="44158"/>
                  </a:cubicBezTo>
                  <a:lnTo>
                    <a:pt x="1385262" y="843568"/>
                  </a:lnTo>
                  <a:cubicBezTo>
                    <a:pt x="1385262" y="867955"/>
                    <a:pt x="1365492" y="887726"/>
                    <a:pt x="1341104" y="887726"/>
                  </a:cubicBezTo>
                  <a:lnTo>
                    <a:pt x="44158" y="887726"/>
                  </a:lnTo>
                  <a:cubicBezTo>
                    <a:pt x="19770" y="887726"/>
                    <a:pt x="0" y="867955"/>
                    <a:pt x="0" y="843568"/>
                  </a:cubicBezTo>
                  <a:lnTo>
                    <a:pt x="0" y="44158"/>
                  </a:lnTo>
                  <a:cubicBezTo>
                    <a:pt x="0" y="19770"/>
                    <a:pt x="19770" y="0"/>
                    <a:pt x="44158" y="0"/>
                  </a:cubicBezTo>
                  <a:close/>
                </a:path>
              </a:pathLst>
            </a:custGeom>
            <a:solidFill>
              <a:srgbClr val="2C0A7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85262" cy="944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🏆</a:t>
              </a:r>
            </a:p>
            <a:p>
              <a:pPr algn="ctr">
                <a:lnSpc>
                  <a:spcPts val="3639"/>
                </a:lnSpc>
              </a:pPr>
              <a:r>
                <a:rPr lang="en-US" b="true" sz="2599">
                  <a:gradFill>
                    <a:gsLst>
                      <a:gs pos="0">
                        <a:srgbClr val="FF66C4">
                          <a:alpha val="100000"/>
                        </a:srgbClr>
                      </a:gs>
                      <a:gs pos="100000">
                        <a:srgbClr val="FFDE59">
                          <a:alpha val="100000"/>
                        </a:srgbClr>
                      </a:gs>
                    </a:gsLst>
                    <a:lin ang="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Model Selected Correctly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 i="true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Tuned LR beats RF on segment precision, false positives control, and business explainability.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0122" y="5887716"/>
            <a:ext cx="5259668" cy="3370584"/>
            <a:chOff x="0" y="0"/>
            <a:chExt cx="1385262" cy="8877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5262" cy="887726"/>
            </a:xfrm>
            <a:custGeom>
              <a:avLst/>
              <a:gdLst/>
              <a:ahLst/>
              <a:cxnLst/>
              <a:rect r="r" b="b" t="t" l="l"/>
              <a:pathLst>
                <a:path h="887726" w="1385262">
                  <a:moveTo>
                    <a:pt x="44158" y="0"/>
                  </a:moveTo>
                  <a:lnTo>
                    <a:pt x="1341104" y="0"/>
                  </a:lnTo>
                  <a:cubicBezTo>
                    <a:pt x="1352816" y="0"/>
                    <a:pt x="1364047" y="4652"/>
                    <a:pt x="1372329" y="12934"/>
                  </a:cubicBezTo>
                  <a:cubicBezTo>
                    <a:pt x="1380610" y="21215"/>
                    <a:pt x="1385262" y="32447"/>
                    <a:pt x="1385262" y="44158"/>
                  </a:cubicBezTo>
                  <a:lnTo>
                    <a:pt x="1385262" y="843568"/>
                  </a:lnTo>
                  <a:cubicBezTo>
                    <a:pt x="1385262" y="867955"/>
                    <a:pt x="1365492" y="887726"/>
                    <a:pt x="1341104" y="887726"/>
                  </a:cubicBezTo>
                  <a:lnTo>
                    <a:pt x="44158" y="887726"/>
                  </a:lnTo>
                  <a:cubicBezTo>
                    <a:pt x="19770" y="887726"/>
                    <a:pt x="0" y="867955"/>
                    <a:pt x="0" y="843568"/>
                  </a:cubicBezTo>
                  <a:lnTo>
                    <a:pt x="0" y="44158"/>
                  </a:lnTo>
                  <a:cubicBezTo>
                    <a:pt x="0" y="19770"/>
                    <a:pt x="19770" y="0"/>
                    <a:pt x="44158" y="0"/>
                  </a:cubicBezTo>
                  <a:close/>
                </a:path>
              </a:pathLst>
            </a:custGeom>
            <a:solidFill>
              <a:srgbClr val="2C0A7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385262" cy="944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🔬</a:t>
              </a:r>
            </a:p>
            <a:p>
              <a:pPr algn="ctr">
                <a:lnSpc>
                  <a:spcPts val="3639"/>
                </a:lnSpc>
              </a:pPr>
              <a:r>
                <a:rPr lang="en-US" b="true" sz="2599">
                  <a:gradFill>
                    <a:gsLst>
                      <a:gs pos="0">
                        <a:srgbClr val="FF66C4">
                          <a:alpha val="100000"/>
                        </a:srgbClr>
                      </a:gs>
                      <a:gs pos="100000">
                        <a:srgbClr val="FFDE59">
                          <a:alpha val="100000"/>
                        </a:srgbClr>
                      </a:gs>
                    </a:gsLst>
                    <a:lin ang="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Data – Constrained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 i="true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AUC=0.66 reflects dataset limits, not model failure, Even XGBoost shows similar performance.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75902" y="5887716"/>
            <a:ext cx="5259668" cy="3370584"/>
            <a:chOff x="0" y="0"/>
            <a:chExt cx="1385262" cy="8877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5262" cy="887726"/>
            </a:xfrm>
            <a:custGeom>
              <a:avLst/>
              <a:gdLst/>
              <a:ahLst/>
              <a:cxnLst/>
              <a:rect r="r" b="b" t="t" l="l"/>
              <a:pathLst>
                <a:path h="887726" w="1385262">
                  <a:moveTo>
                    <a:pt x="44158" y="0"/>
                  </a:moveTo>
                  <a:lnTo>
                    <a:pt x="1341104" y="0"/>
                  </a:lnTo>
                  <a:cubicBezTo>
                    <a:pt x="1352816" y="0"/>
                    <a:pt x="1364047" y="4652"/>
                    <a:pt x="1372329" y="12934"/>
                  </a:cubicBezTo>
                  <a:cubicBezTo>
                    <a:pt x="1380610" y="21215"/>
                    <a:pt x="1385262" y="32447"/>
                    <a:pt x="1385262" y="44158"/>
                  </a:cubicBezTo>
                  <a:lnTo>
                    <a:pt x="1385262" y="843568"/>
                  </a:lnTo>
                  <a:cubicBezTo>
                    <a:pt x="1385262" y="867955"/>
                    <a:pt x="1365492" y="887726"/>
                    <a:pt x="1341104" y="887726"/>
                  </a:cubicBezTo>
                  <a:lnTo>
                    <a:pt x="44158" y="887726"/>
                  </a:lnTo>
                  <a:cubicBezTo>
                    <a:pt x="19770" y="887726"/>
                    <a:pt x="0" y="867955"/>
                    <a:pt x="0" y="843568"/>
                  </a:cubicBezTo>
                  <a:lnTo>
                    <a:pt x="0" y="44158"/>
                  </a:lnTo>
                  <a:cubicBezTo>
                    <a:pt x="0" y="19770"/>
                    <a:pt x="19770" y="0"/>
                    <a:pt x="44158" y="0"/>
                  </a:cubicBezTo>
                  <a:close/>
                </a:path>
              </a:pathLst>
            </a:custGeom>
            <a:solidFill>
              <a:srgbClr val="2C0A7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385262" cy="944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🚀</a:t>
              </a:r>
            </a:p>
            <a:p>
              <a:pPr algn="ctr">
                <a:lnSpc>
                  <a:spcPts val="3639"/>
                </a:lnSpc>
              </a:pPr>
              <a:r>
                <a:rPr lang="en-US" b="true" sz="2599">
                  <a:gradFill>
                    <a:gsLst>
                      <a:gs pos="0">
                        <a:srgbClr val="FF66C4">
                          <a:alpha val="100000"/>
                        </a:srgbClr>
                      </a:gs>
                      <a:gs pos="100000">
                        <a:srgbClr val="FFDE59">
                          <a:alpha val="100000"/>
                        </a:srgbClr>
                      </a:gs>
                    </a:gsLst>
                    <a:lin ang="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Clear Path Forward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 i="true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Richer data signals + quarterly refresh = significant future improvement.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11962" y="5887716"/>
            <a:ext cx="5259668" cy="3370584"/>
            <a:chOff x="0" y="0"/>
            <a:chExt cx="1385262" cy="8877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5262" cy="887726"/>
            </a:xfrm>
            <a:custGeom>
              <a:avLst/>
              <a:gdLst/>
              <a:ahLst/>
              <a:cxnLst/>
              <a:rect r="r" b="b" t="t" l="l"/>
              <a:pathLst>
                <a:path h="887726" w="1385262">
                  <a:moveTo>
                    <a:pt x="44158" y="0"/>
                  </a:moveTo>
                  <a:lnTo>
                    <a:pt x="1341104" y="0"/>
                  </a:lnTo>
                  <a:cubicBezTo>
                    <a:pt x="1352816" y="0"/>
                    <a:pt x="1364047" y="4652"/>
                    <a:pt x="1372329" y="12934"/>
                  </a:cubicBezTo>
                  <a:cubicBezTo>
                    <a:pt x="1380610" y="21215"/>
                    <a:pt x="1385262" y="32447"/>
                    <a:pt x="1385262" y="44158"/>
                  </a:cubicBezTo>
                  <a:lnTo>
                    <a:pt x="1385262" y="843568"/>
                  </a:lnTo>
                  <a:cubicBezTo>
                    <a:pt x="1385262" y="867955"/>
                    <a:pt x="1365492" y="887726"/>
                    <a:pt x="1341104" y="887726"/>
                  </a:cubicBezTo>
                  <a:lnTo>
                    <a:pt x="44158" y="887726"/>
                  </a:lnTo>
                  <a:cubicBezTo>
                    <a:pt x="19770" y="887726"/>
                    <a:pt x="0" y="867955"/>
                    <a:pt x="0" y="843568"/>
                  </a:cubicBezTo>
                  <a:lnTo>
                    <a:pt x="0" y="44158"/>
                  </a:lnTo>
                  <a:cubicBezTo>
                    <a:pt x="0" y="19770"/>
                    <a:pt x="19770" y="0"/>
                    <a:pt x="44158" y="0"/>
                  </a:cubicBezTo>
                  <a:close/>
                </a:path>
              </a:pathLst>
            </a:custGeom>
            <a:solidFill>
              <a:srgbClr val="2C0A7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385262" cy="944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💰</a:t>
              </a:r>
            </a:p>
            <a:p>
              <a:pPr algn="ctr">
                <a:lnSpc>
                  <a:spcPts val="3639"/>
                </a:lnSpc>
              </a:pPr>
              <a:r>
                <a:rPr lang="en-US" b="true" sz="2599">
                  <a:gradFill>
                    <a:gsLst>
                      <a:gs pos="0">
                        <a:srgbClr val="FF66C4">
                          <a:alpha val="100000"/>
                        </a:srgbClr>
                      </a:gs>
                      <a:gs pos="100000">
                        <a:srgbClr val="FFDE59">
                          <a:alpha val="100000"/>
                        </a:srgbClr>
                      </a:gs>
                    </a:gsLst>
                    <a:lin ang="0"/>
                  </a:gradFill>
                  <a:latin typeface="Canva Sans Bold"/>
                  <a:ea typeface="Canva Sans Bold"/>
                  <a:cs typeface="Canva Sans Bold"/>
                  <a:sym typeface="Canva Sans Bold"/>
                </a:rPr>
                <a:t>Financial Impact Proven</a:t>
              </a: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 i="true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₹1.19 Cr saved annually from ₹5.59 Cr at risk = 21.34% revenue risk mitigated.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13987" y="9461201"/>
            <a:ext cx="3086100" cy="789878"/>
            <a:chOff x="0" y="0"/>
            <a:chExt cx="812800" cy="2080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208034"/>
            </a:xfrm>
            <a:custGeom>
              <a:avLst/>
              <a:gdLst/>
              <a:ahLst/>
              <a:cxnLst/>
              <a:rect r="r" b="b" t="t" l="l"/>
              <a:pathLst>
                <a:path h="20803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8034"/>
                  </a:lnTo>
                  <a:lnTo>
                    <a:pt x="0" y="208034"/>
                  </a:lnTo>
                  <a:close/>
                </a:path>
              </a:pathLst>
            </a:custGeom>
            <a:solidFill>
              <a:srgbClr val="000B3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76200"/>
              <a:ext cx="812800" cy="131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7"/>
                </a:lnSpc>
              </a:pPr>
              <a:r>
                <a:rPr lang="en-US" b="true" sz="3599" i="true">
                  <a:solidFill>
                    <a:srgbClr val="FFFFFF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DAHI43nG0lE</dc:identifier>
  <dcterms:modified xsi:type="dcterms:W3CDTF">2011-08-01T06:04:30Z</dcterms:modified>
  <cp:revision>1</cp:revision>
  <dc:title>Can We Predict</dc:title>
</cp:coreProperties>
</file>